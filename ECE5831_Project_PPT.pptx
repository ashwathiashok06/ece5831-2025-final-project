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5143500" cx="9144000"/>
  <p:notesSz cx="5143500" cy="9144000"/>
  <p:embeddedFontLst>
    <p:embeddedFont>
      <p:font typeface="Arial Black"/>
      <p:regular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5" Type="http://schemas.openxmlformats.org/officeDocument/2006/relationships/font" Target="fonts/ArialBlack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" name="Google Shape;18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" name="Google Shape;42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" name="Google Shape;63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7" name="Google Shape;207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7" name="Google Shape;237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6" name="Google Shape;266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7" name="Google Shape;277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7" name="Google Shape;317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2" name="Google Shape;352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1" name="Google Shape;381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9" name="Google Shape;419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7" name="Google Shape;467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2" name="Google Shape;512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Relationship Id="rId9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3486296" y="1537395"/>
            <a:ext cx="2171111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ECE-5831 FINAL PROJECT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879049" y="1838750"/>
            <a:ext cx="73857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000"/>
              <a:buFont typeface="Arial Black"/>
              <a:buNone/>
            </a:pPr>
            <a:r>
              <a:rPr b="1" i="0" lang="en-US" sz="3000" u="none" cap="none" strike="noStrike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Vehicle </a:t>
            </a:r>
            <a:r>
              <a:rPr b="1" lang="en-US" sz="30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Type</a:t>
            </a:r>
            <a:r>
              <a:rPr b="1" i="0" lang="en-US" sz="3000" u="none" cap="none" strike="noStrike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 and Speed</a:t>
            </a:r>
            <a:r>
              <a:rPr b="1" lang="en-US" sz="30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 Pattern Recognition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2707867" y="2945936"/>
            <a:ext cx="38037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Ashwathi Ashok | Tharun Subramanya | Vedhesh A. Saravanan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4194794" y="3229291"/>
            <a:ext cx="8295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December 202</a:t>
            </a:r>
            <a:r>
              <a:rPr lang="en-US" sz="900">
                <a:solidFill>
                  <a:srgbClr val="8FA8C8"/>
                </a:solidFill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381000" y="771650"/>
            <a:ext cx="428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F6B35"/>
                </a:solidFill>
                <a:latin typeface="Arial Black"/>
                <a:ea typeface="Arial Black"/>
                <a:cs typeface="Arial Black"/>
                <a:sym typeface="Arial Black"/>
              </a:rPr>
              <a:t>Presentation Outline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/>
          <p:nvPr/>
        </p:nvSpPr>
        <p:spPr>
          <a:xfrm>
            <a:off x="381000" y="1544654"/>
            <a:ext cx="4038600" cy="491400"/>
          </a:xfrm>
          <a:prstGeom prst="roundRect">
            <a:avLst>
              <a:gd fmla="val 155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" name="Google Shape;23;p4"/>
          <p:cNvCxnSpPr/>
          <p:nvPr/>
        </p:nvCxnSpPr>
        <p:spPr>
          <a:xfrm>
            <a:off x="400050" y="1544654"/>
            <a:ext cx="0" cy="491400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" name="Google Shape;24;p4"/>
          <p:cNvSpPr/>
          <p:nvPr/>
        </p:nvSpPr>
        <p:spPr>
          <a:xfrm>
            <a:off x="571500" y="1697054"/>
            <a:ext cx="37695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1. Introduction and Problem Statement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381000" y="2188485"/>
            <a:ext cx="4038600" cy="491400"/>
          </a:xfrm>
          <a:prstGeom prst="roundRect">
            <a:avLst>
              <a:gd fmla="val 155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" name="Google Shape;26;p4"/>
          <p:cNvCxnSpPr/>
          <p:nvPr/>
        </p:nvCxnSpPr>
        <p:spPr>
          <a:xfrm>
            <a:off x="400050" y="2188485"/>
            <a:ext cx="0" cy="491400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" name="Google Shape;27;p4"/>
          <p:cNvSpPr/>
          <p:nvPr/>
        </p:nvSpPr>
        <p:spPr>
          <a:xfrm>
            <a:off x="571500" y="2340885"/>
            <a:ext cx="37695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2. Dataset and Preprocessing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381000" y="2832315"/>
            <a:ext cx="4038600" cy="491400"/>
          </a:xfrm>
          <a:prstGeom prst="roundRect">
            <a:avLst>
              <a:gd fmla="val 155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" name="Google Shape;29;p4"/>
          <p:cNvCxnSpPr/>
          <p:nvPr/>
        </p:nvCxnSpPr>
        <p:spPr>
          <a:xfrm>
            <a:off x="400050" y="2832315"/>
            <a:ext cx="0" cy="491400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" name="Google Shape;30;p4"/>
          <p:cNvSpPr/>
          <p:nvPr/>
        </p:nvSpPr>
        <p:spPr>
          <a:xfrm>
            <a:off x="571500" y="2984715"/>
            <a:ext cx="37695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3. Methodology and Architecture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4724400" y="1544654"/>
            <a:ext cx="4038600" cy="491400"/>
          </a:xfrm>
          <a:prstGeom prst="roundRect">
            <a:avLst>
              <a:gd fmla="val 155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2" name="Google Shape;32;p4"/>
          <p:cNvCxnSpPr/>
          <p:nvPr/>
        </p:nvCxnSpPr>
        <p:spPr>
          <a:xfrm>
            <a:off x="4743450" y="1544654"/>
            <a:ext cx="0" cy="491400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" name="Google Shape;33;p4"/>
          <p:cNvSpPr/>
          <p:nvPr/>
        </p:nvSpPr>
        <p:spPr>
          <a:xfrm>
            <a:off x="4914900" y="1697054"/>
            <a:ext cx="37695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4. Speed Estimation Algorithm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724400" y="2188485"/>
            <a:ext cx="4038600" cy="491400"/>
          </a:xfrm>
          <a:prstGeom prst="roundRect">
            <a:avLst>
              <a:gd fmla="val 155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5" name="Google Shape;35;p4"/>
          <p:cNvCxnSpPr/>
          <p:nvPr/>
        </p:nvCxnSpPr>
        <p:spPr>
          <a:xfrm>
            <a:off x="4743450" y="2188485"/>
            <a:ext cx="0" cy="491400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" name="Google Shape;36;p4"/>
          <p:cNvSpPr/>
          <p:nvPr/>
        </p:nvSpPr>
        <p:spPr>
          <a:xfrm>
            <a:off x="4914900" y="2340885"/>
            <a:ext cx="37695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5. Results and Evaluation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724400" y="2832315"/>
            <a:ext cx="4038600" cy="491400"/>
          </a:xfrm>
          <a:prstGeom prst="roundRect">
            <a:avLst>
              <a:gd fmla="val 155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" name="Google Shape;38;p4"/>
          <p:cNvCxnSpPr/>
          <p:nvPr/>
        </p:nvCxnSpPr>
        <p:spPr>
          <a:xfrm>
            <a:off x="4743450" y="2832315"/>
            <a:ext cx="0" cy="491400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4"/>
          <p:cNvSpPr/>
          <p:nvPr/>
        </p:nvSpPr>
        <p:spPr>
          <a:xfrm>
            <a:off x="4914900" y="2984715"/>
            <a:ext cx="37695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6. Demo and Conclusions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/>
          <p:nvPr/>
        </p:nvSpPr>
        <p:spPr>
          <a:xfrm>
            <a:off x="381000" y="304800"/>
            <a:ext cx="428453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Problem Statement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348388" y="1069293"/>
            <a:ext cx="4892100" cy="998100"/>
          </a:xfrm>
          <a:prstGeom prst="roundRect">
            <a:avLst>
              <a:gd fmla="val 7634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519838" y="1240743"/>
            <a:ext cx="46401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THE CHALLENGE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519838" y="1495983"/>
            <a:ext cx="4640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Develop an automated system to detect vehicles, classify their type, and estimate their speed from traffic video footage.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348388" y="2219883"/>
            <a:ext cx="4892100" cy="1654200"/>
          </a:xfrm>
          <a:prstGeom prst="roundRect">
            <a:avLst>
              <a:gd fmla="val 46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519838" y="2391333"/>
            <a:ext cx="46401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KEY OBJECTIVES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519838" y="2646573"/>
            <a:ext cx="4549200" cy="10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noAutofit/>
          </a:bodyPr>
          <a:lstStyle/>
          <a:p>
            <a:pPr indent="-76200" lvl="0" marL="76200" marR="0" rtl="0" algn="l">
              <a:lnSpc>
                <a:spcPct val="155589"/>
              </a:lnSpc>
              <a:spcBef>
                <a:spcPts val="0"/>
              </a:spcBef>
              <a:spcAft>
                <a:spcPts val="0"/>
              </a:spcAft>
              <a:buClr>
                <a:srgbClr val="E8F1F8"/>
              </a:buClr>
              <a:buSzPts val="975"/>
              <a:buFont typeface="Arial"/>
              <a:buChar char="•"/>
            </a:pPr>
            <a:r>
              <a:rPr lang="en-US" sz="97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Binary classification: Vehicle vs Non-vehicle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76200" lvl="0" marL="76200" marR="0" rtl="0" algn="l">
              <a:lnSpc>
                <a:spcPct val="155589"/>
              </a:lnSpc>
              <a:spcBef>
                <a:spcPts val="450"/>
              </a:spcBef>
              <a:spcAft>
                <a:spcPts val="0"/>
              </a:spcAft>
              <a:buClr>
                <a:srgbClr val="E8F1F8"/>
              </a:buClr>
              <a:buSzPts val="975"/>
              <a:buFont typeface="Arial"/>
              <a:buChar char="•"/>
            </a:pPr>
            <a:r>
              <a:rPr lang="en-US" sz="97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Multi-class: Car, Bus, Truck, Motorcycle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76200" lvl="0" marL="76200" marR="0" rtl="0" algn="l">
              <a:lnSpc>
                <a:spcPct val="155589"/>
              </a:lnSpc>
              <a:spcBef>
                <a:spcPts val="450"/>
              </a:spcBef>
              <a:spcAft>
                <a:spcPts val="0"/>
              </a:spcAft>
              <a:buClr>
                <a:srgbClr val="E8F1F8"/>
              </a:buClr>
              <a:buSzPts val="975"/>
              <a:buFont typeface="Arial"/>
              <a:buChar char="•"/>
            </a:pPr>
            <a:r>
              <a:rPr lang="en-US" sz="97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Speed estimation in mph from pixel motion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76200" lvl="0" marL="76200" marR="0" rtl="0" algn="l">
              <a:lnSpc>
                <a:spcPct val="155589"/>
              </a:lnSpc>
              <a:spcBef>
                <a:spcPts val="450"/>
              </a:spcBef>
              <a:spcAft>
                <a:spcPts val="0"/>
              </a:spcAft>
              <a:buClr>
                <a:srgbClr val="E8F1F8"/>
              </a:buClr>
              <a:buSzPts val="975"/>
              <a:buFont typeface="Arial"/>
              <a:buChar char="•"/>
            </a:pPr>
            <a:r>
              <a:rPr lang="en-US" sz="97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Real-time tracking with unique IDs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5468968" y="1366056"/>
            <a:ext cx="33267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APPLICATIONS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468968" y="1626952"/>
            <a:ext cx="3261300" cy="401700"/>
          </a:xfrm>
          <a:prstGeom prst="roundRect">
            <a:avLst>
              <a:gd fmla="val 1422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583268" y="1741252"/>
            <a:ext cx="30936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Traffic Management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468968" y="2143088"/>
            <a:ext cx="3261300" cy="401700"/>
          </a:xfrm>
          <a:prstGeom prst="roundRect">
            <a:avLst>
              <a:gd fmla="val 1422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5583268" y="2257388"/>
            <a:ext cx="30936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Law Enforcement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468968" y="2659223"/>
            <a:ext cx="3261300" cy="401700"/>
          </a:xfrm>
          <a:prstGeom prst="roundRect">
            <a:avLst>
              <a:gd fmla="val 1422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583268" y="2773523"/>
            <a:ext cx="30936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Road Safety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5"/>
          <p:cNvSpPr/>
          <p:nvPr/>
        </p:nvSpPr>
        <p:spPr>
          <a:xfrm>
            <a:off x="5468968" y="3175359"/>
            <a:ext cx="3261300" cy="401700"/>
          </a:xfrm>
          <a:prstGeom prst="roundRect">
            <a:avLst>
              <a:gd fmla="val 1422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583268" y="3289659"/>
            <a:ext cx="30936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Urban Planning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6"/>
          <p:cNvSpPr/>
          <p:nvPr/>
        </p:nvSpPr>
        <p:spPr>
          <a:xfrm>
            <a:off x="503450" y="512050"/>
            <a:ext cx="428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System Architecture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847551" y="1714363"/>
            <a:ext cx="963000" cy="426600"/>
          </a:xfrm>
          <a:prstGeom prst="roundRect">
            <a:avLst>
              <a:gd fmla="val 17858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1012800" y="1847713"/>
            <a:ext cx="6327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Video Input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1924918" y="1794283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2229718" y="1695313"/>
            <a:ext cx="1270200" cy="464700"/>
          </a:xfrm>
          <a:prstGeom prst="roundRect">
            <a:avLst>
              <a:gd fmla="val 16395" name="adj"/>
            </a:avLst>
          </a:prstGeom>
          <a:solidFill>
            <a:srgbClr val="1E3A5F"/>
          </a:solidFill>
          <a:ln cap="flat" cmpd="sng" w="1905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2411325" y="1847713"/>
            <a:ext cx="9069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MOG2 Detection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3614266" y="1794283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3919066" y="1695313"/>
            <a:ext cx="1289400" cy="464700"/>
          </a:xfrm>
          <a:prstGeom prst="roundRect">
            <a:avLst>
              <a:gd fmla="val 16395" name="adj"/>
            </a:avLst>
          </a:prstGeom>
          <a:solidFill>
            <a:srgbClr val="1E3A5F"/>
          </a:solidFill>
          <a:ln cap="flat" cmpd="sng" w="1905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4100482" y="1847713"/>
            <a:ext cx="9267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Centroid Tracker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5322813" y="1794283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5627613" y="1695313"/>
            <a:ext cx="1175100" cy="464700"/>
          </a:xfrm>
          <a:prstGeom prst="roundRect">
            <a:avLst>
              <a:gd fmla="val 16395" name="adj"/>
            </a:avLst>
          </a:prstGeom>
          <a:solidFill>
            <a:srgbClr val="1E3A5F"/>
          </a:solidFill>
          <a:ln cap="flat" cmpd="sng" w="1905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5810171" y="1847713"/>
            <a:ext cx="8100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CNN Classifier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6917060" y="1794283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7221860" y="1714363"/>
            <a:ext cx="1074600" cy="426600"/>
          </a:xfrm>
          <a:prstGeom prst="roundRect">
            <a:avLst>
              <a:gd fmla="val 17858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7385993" y="1847713"/>
            <a:ext cx="7464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Speed + Type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1614760" y="2541103"/>
            <a:ext cx="1812600" cy="687600"/>
          </a:xfrm>
          <a:prstGeom prst="roundRect">
            <a:avLst>
              <a:gd fmla="val 1108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1767160" y="2693503"/>
            <a:ext cx="15378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FRAMEWORKS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/>
          <p:nvPr/>
        </p:nvSpPr>
        <p:spPr>
          <a:xfrm>
            <a:off x="1767160" y="2916298"/>
            <a:ext cx="15378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TensorFlow | Keras | OpenCV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6"/>
          <p:cNvSpPr/>
          <p:nvPr/>
        </p:nvSpPr>
        <p:spPr>
          <a:xfrm>
            <a:off x="3617838" y="2541103"/>
            <a:ext cx="1971300" cy="687600"/>
          </a:xfrm>
          <a:prstGeom prst="roundRect">
            <a:avLst>
              <a:gd fmla="val 1108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3770238" y="2693503"/>
            <a:ext cx="16998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TECHNIQUES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3770238" y="2916298"/>
            <a:ext cx="16998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MOG2 | CNN | Centroid Tracking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6"/>
          <p:cNvSpPr/>
          <p:nvPr/>
        </p:nvSpPr>
        <p:spPr>
          <a:xfrm>
            <a:off x="5779566" y="2541103"/>
            <a:ext cx="1749600" cy="687600"/>
          </a:xfrm>
          <a:prstGeom prst="roundRect">
            <a:avLst>
              <a:gd fmla="val 1108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5931966" y="2693503"/>
            <a:ext cx="14736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5931966" y="2916298"/>
            <a:ext cx="1473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Annotated Video | CSV Data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"/>
          <p:cNvSpPr/>
          <p:nvPr/>
        </p:nvSpPr>
        <p:spPr>
          <a:xfrm>
            <a:off x="465775" y="317730"/>
            <a:ext cx="428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Datasets Used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465775" y="2178842"/>
            <a:ext cx="2667000" cy="2459100"/>
          </a:xfrm>
          <a:prstGeom prst="roundRect">
            <a:avLst>
              <a:gd fmla="val 3873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7" name="Google Shape;97;p7"/>
          <p:cNvCxnSpPr/>
          <p:nvPr/>
        </p:nvCxnSpPr>
        <p:spPr>
          <a:xfrm>
            <a:off x="465775" y="2197892"/>
            <a:ext cx="2667000" cy="0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8" name="Google Shape;98;p7"/>
          <p:cNvSpPr/>
          <p:nvPr/>
        </p:nvSpPr>
        <p:spPr>
          <a:xfrm>
            <a:off x="637225" y="2388392"/>
            <a:ext cx="23706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Binary Detection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637225" y="2841723"/>
            <a:ext cx="23706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Vehicle Detection Image Set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637225" y="3255018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Total: 17,760 images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637225" y="3605508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Vehicles: 8,792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637225" y="3955999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Non-vehicles: 8,968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637225" y="4306489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Split: 80/20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3323275" y="2178842"/>
            <a:ext cx="2667000" cy="2459100"/>
          </a:xfrm>
          <a:prstGeom prst="roundRect">
            <a:avLst>
              <a:gd fmla="val 3873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5" name="Google Shape;105;p7"/>
          <p:cNvCxnSpPr/>
          <p:nvPr/>
        </p:nvCxnSpPr>
        <p:spPr>
          <a:xfrm>
            <a:off x="3323275" y="2197892"/>
            <a:ext cx="2667000" cy="0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6" name="Google Shape;106;p7"/>
          <p:cNvSpPr/>
          <p:nvPr/>
        </p:nvSpPr>
        <p:spPr>
          <a:xfrm>
            <a:off x="3494725" y="2388392"/>
            <a:ext cx="23706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Type Classification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3494725" y="2841723"/>
            <a:ext cx="23706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Vehicle Detection 8 Classes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3494725" y="3255018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Total Patches: 19,700+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3494725" y="3605508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Classes Used: 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3494725" y="3955999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Car, Bus, Truck, Motorcycle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/>
          <p:nvPr/>
        </p:nvSpPr>
        <p:spPr>
          <a:xfrm>
            <a:off x="3494725" y="4306489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Format: YOLO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6180775" y="2178842"/>
            <a:ext cx="2667000" cy="2459100"/>
          </a:xfrm>
          <a:prstGeom prst="roundRect">
            <a:avLst>
              <a:gd fmla="val 3873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3" name="Google Shape;113;p7"/>
          <p:cNvCxnSpPr/>
          <p:nvPr/>
        </p:nvCxnSpPr>
        <p:spPr>
          <a:xfrm>
            <a:off x="6180775" y="2197892"/>
            <a:ext cx="2667000" cy="0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4" name="Google Shape;114;p7"/>
          <p:cNvSpPr/>
          <p:nvPr/>
        </p:nvSpPr>
        <p:spPr>
          <a:xfrm>
            <a:off x="6352225" y="2388392"/>
            <a:ext cx="2370600" cy="1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Test Videos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6352225" y="2841723"/>
            <a:ext cx="23706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Real Traffic Footage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6352225" y="3255018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M6 Motorway: 40s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6352225" y="3605508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Skybridge: 13s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6352225" y="3955999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Resolution: 720p/1080p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6352225" y="4306489"/>
            <a:ext cx="23706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FPS: 30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381000" y="954825"/>
            <a:ext cx="5808300" cy="103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Kaggle: Vehicle Detection Image Set (binary: vehicles vs non-vehicles).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Kaggle: Vehicle Detection 8 Classes (VOC boxes; we used a 4-class subset in the notebook).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Traffic video clips for end-to-end demo (detection → tracking → speed).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373138" y="476275"/>
            <a:ext cx="42846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CNN Architecture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8"/>
          <p:cNvSpPr/>
          <p:nvPr/>
        </p:nvSpPr>
        <p:spPr>
          <a:xfrm>
            <a:off x="1298711" y="1296363"/>
            <a:ext cx="1043400" cy="324000"/>
          </a:xfrm>
          <a:prstGeom prst="roundRect">
            <a:avLst>
              <a:gd fmla="val 17647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1432061" y="1391613"/>
            <a:ext cx="7920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INPUT 128x128x3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2418197" y="1324938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2684897" y="1312585"/>
            <a:ext cx="528900" cy="291300"/>
          </a:xfrm>
          <a:prstGeom prst="roundRect">
            <a:avLst>
              <a:gd fmla="val 19612" name="adj"/>
            </a:avLst>
          </a:prstGeom>
          <a:solidFill>
            <a:srgbClr val="1E3A5F"/>
          </a:solidFill>
          <a:ln cap="flat" cmpd="sng" w="952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/>
          <p:nvPr/>
        </p:nvSpPr>
        <p:spPr>
          <a:xfrm>
            <a:off x="2789672" y="1398310"/>
            <a:ext cx="3258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Conv 16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3290032" y="1324938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3556732" y="1312585"/>
            <a:ext cx="528900" cy="291300"/>
          </a:xfrm>
          <a:prstGeom prst="roundRect">
            <a:avLst>
              <a:gd fmla="val 19612" name="adj"/>
            </a:avLst>
          </a:prstGeom>
          <a:solidFill>
            <a:srgbClr val="1E3A5F"/>
          </a:solidFill>
          <a:ln cap="flat" cmpd="sng" w="952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3661507" y="1398310"/>
            <a:ext cx="3258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Conv 32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4161868" y="1324938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4428568" y="1312585"/>
            <a:ext cx="528900" cy="291300"/>
          </a:xfrm>
          <a:prstGeom prst="roundRect">
            <a:avLst>
              <a:gd fmla="val 19612" name="adj"/>
            </a:avLst>
          </a:prstGeom>
          <a:solidFill>
            <a:srgbClr val="1E3A5F"/>
          </a:solidFill>
          <a:ln cap="flat" cmpd="sng" w="952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33343" y="1398310"/>
            <a:ext cx="3258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Conv 64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/>
          <p:nvPr/>
        </p:nvSpPr>
        <p:spPr>
          <a:xfrm>
            <a:off x="5033703" y="1324938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5300403" y="1312585"/>
            <a:ext cx="576600" cy="291300"/>
          </a:xfrm>
          <a:prstGeom prst="roundRect">
            <a:avLst>
              <a:gd fmla="val 19612" name="adj"/>
            </a:avLst>
          </a:prstGeom>
          <a:solidFill>
            <a:srgbClr val="1E3A5F"/>
          </a:solidFill>
          <a:ln cap="flat" cmpd="sng" w="952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5405178" y="1398310"/>
            <a:ext cx="3744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Conv 128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5953163" y="1324938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6219863" y="1312585"/>
            <a:ext cx="624300" cy="291300"/>
          </a:xfrm>
          <a:prstGeom prst="roundRect">
            <a:avLst>
              <a:gd fmla="val 19612" name="adj"/>
            </a:avLst>
          </a:prstGeom>
          <a:solidFill>
            <a:srgbClr val="1E3A5F"/>
          </a:solidFill>
          <a:ln cap="flat" cmpd="sng" w="952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6324638" y="1398310"/>
            <a:ext cx="4230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Dense 256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6920397" y="1324938"/>
            <a:ext cx="1944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7187097" y="1296363"/>
            <a:ext cx="658200" cy="324000"/>
          </a:xfrm>
          <a:prstGeom prst="roundRect">
            <a:avLst>
              <a:gd fmla="val 17647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7320447" y="1391613"/>
            <a:ext cx="3993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381000" y="2135684"/>
            <a:ext cx="4076700" cy="2148334"/>
          </a:xfrm>
          <a:prstGeom prst="roundRect">
            <a:avLst>
              <a:gd fmla="val 4434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8"/>
          <p:cNvCxnSpPr/>
          <p:nvPr/>
        </p:nvCxnSpPr>
        <p:spPr>
          <a:xfrm>
            <a:off x="400050" y="2135684"/>
            <a:ext cx="0" cy="2148334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8"/>
          <p:cNvSpPr/>
          <p:nvPr/>
        </p:nvSpPr>
        <p:spPr>
          <a:xfrm>
            <a:off x="590550" y="2307134"/>
            <a:ext cx="376961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Binary Model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590550" y="2747070"/>
            <a:ext cx="376961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Output: 1 neuron (Sigmoid)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590550" y="3084165"/>
            <a:ext cx="376961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Loss: Binary Cross entropy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590550" y="3421261"/>
            <a:ext cx="376961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Optimizer: Adam (1e-3)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590550" y="3872657"/>
            <a:ext cx="3769614" cy="2399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99.2% Accuracy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686300" y="2135684"/>
            <a:ext cx="4076700" cy="2148334"/>
          </a:xfrm>
          <a:prstGeom prst="roundRect">
            <a:avLst>
              <a:gd fmla="val 4434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5" name="Google Shape;155;p8"/>
          <p:cNvCxnSpPr/>
          <p:nvPr/>
        </p:nvCxnSpPr>
        <p:spPr>
          <a:xfrm>
            <a:off x="4705350" y="2135684"/>
            <a:ext cx="0" cy="2148334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6" name="Google Shape;156;p8"/>
          <p:cNvSpPr/>
          <p:nvPr/>
        </p:nvSpPr>
        <p:spPr>
          <a:xfrm>
            <a:off x="4895850" y="2307134"/>
            <a:ext cx="376961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Multi-Class Model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4895850" y="2747070"/>
            <a:ext cx="376961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Output: 4 neurons (Softmax)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4895850" y="3084165"/>
            <a:ext cx="376961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Loss: Categorical Cross entropy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4895850" y="3421261"/>
            <a:ext cx="376961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Classes: Bus, Car, Motorcycle, Truck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4895850" y="3872657"/>
            <a:ext cx="3769614" cy="2399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350"/>
              <a:buFont typeface="Arial"/>
              <a:buNone/>
            </a:pPr>
            <a:r>
              <a:rPr b="1" lang="en-US" sz="135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94% Accuracy</a:t>
            </a:r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"/>
          <p:cNvSpPr txBox="1"/>
          <p:nvPr/>
        </p:nvSpPr>
        <p:spPr>
          <a:xfrm>
            <a:off x="579474" y="592809"/>
            <a:ext cx="8181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Vehicle Type Classification (Multi-class)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9"/>
          <p:cNvSpPr txBox="1"/>
          <p:nvPr/>
        </p:nvSpPr>
        <p:spPr>
          <a:xfrm>
            <a:off x="579474" y="1868988"/>
            <a:ext cx="7038900" cy="14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Predict vehicle type label (e.g., bus/car/truck/motorcycle).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 trained a lightweight CNN on labeled vehicle crops (subset used in notebook).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Notebook run achieved validation accuracy ≈ 95.9% after 5 epochs.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579474" y="1339989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Goal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 txBox="1"/>
          <p:nvPr/>
        </p:nvSpPr>
        <p:spPr>
          <a:xfrm>
            <a:off x="579474" y="3572143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End-to-end overlay (type + speed + track ID)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"/>
          <p:cNvSpPr txBox="1"/>
          <p:nvPr/>
        </p:nvSpPr>
        <p:spPr>
          <a:xfrm>
            <a:off x="579474" y="272534"/>
            <a:ext cx="8181753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Vehicle Type Classification (Multi-class)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/mnt/data/extracted_nb_imgs/cell58_out0_6afe0b24e4.png" id="176" name="Google Shape;17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90120" y="1473551"/>
            <a:ext cx="3571107" cy="204117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0"/>
          <p:cNvSpPr txBox="1"/>
          <p:nvPr/>
        </p:nvSpPr>
        <p:spPr>
          <a:xfrm>
            <a:off x="579474" y="1098369"/>
            <a:ext cx="4572000" cy="22365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Foreground extraction: BackgroundSubtractorMOG2 (Gaussian mixture model).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Assign track IDs and keep per-track position history.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Tracking stability is critical before speed estimation.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 txBox="1"/>
          <p:nvPr/>
        </p:nvSpPr>
        <p:spPr>
          <a:xfrm>
            <a:off x="579474" y="729037"/>
            <a:ext cx="4572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Approach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 txBox="1"/>
          <p:nvPr/>
        </p:nvSpPr>
        <p:spPr>
          <a:xfrm>
            <a:off x="579474" y="3329717"/>
            <a:ext cx="4572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Example overlay (IDs + pixel-domain speed)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"/>
          <p:cNvSpPr/>
          <p:nvPr/>
        </p:nvSpPr>
        <p:spPr>
          <a:xfrm>
            <a:off x="381000" y="304800"/>
            <a:ext cx="428453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Vehicle Detection: MOG2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/>
          <p:nvPr/>
        </p:nvSpPr>
        <p:spPr>
          <a:xfrm>
            <a:off x="381000" y="1280485"/>
            <a:ext cx="4076700" cy="1260600"/>
          </a:xfrm>
          <a:prstGeom prst="roundRect">
            <a:avLst>
              <a:gd fmla="val 6044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1"/>
          <p:cNvSpPr/>
          <p:nvPr/>
        </p:nvSpPr>
        <p:spPr>
          <a:xfrm>
            <a:off x="533400" y="1432885"/>
            <a:ext cx="38472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HOW MOG2 WORKS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1"/>
          <p:cNvSpPr/>
          <p:nvPr/>
        </p:nvSpPr>
        <p:spPr>
          <a:xfrm>
            <a:off x="533400" y="1688125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1. Models each pixel as mixture of Gaussians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1"/>
          <p:cNvSpPr/>
          <p:nvPr/>
        </p:nvSpPr>
        <p:spPr>
          <a:xfrm>
            <a:off x="533400" y="1872821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2. Learns background over time (history=500)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1"/>
          <p:cNvSpPr/>
          <p:nvPr/>
        </p:nvSpPr>
        <p:spPr>
          <a:xfrm>
            <a:off x="533400" y="2057516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3. Identifies foreground (moving vehicles)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1"/>
          <p:cNvSpPr/>
          <p:nvPr/>
        </p:nvSpPr>
        <p:spPr>
          <a:xfrm>
            <a:off x="533400" y="2242212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4. Shadow detection removed (gray=127)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1"/>
          <p:cNvSpPr/>
          <p:nvPr/>
        </p:nvSpPr>
        <p:spPr>
          <a:xfrm>
            <a:off x="381000" y="2674558"/>
            <a:ext cx="4076700" cy="1440600"/>
          </a:xfrm>
          <a:prstGeom prst="roundRect">
            <a:avLst>
              <a:gd fmla="val 5290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/>
          <p:nvPr/>
        </p:nvSpPr>
        <p:spPr>
          <a:xfrm>
            <a:off x="533400" y="2826958"/>
            <a:ext cx="38472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POST-PROCESSING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1"/>
          <p:cNvSpPr/>
          <p:nvPr/>
        </p:nvSpPr>
        <p:spPr>
          <a:xfrm>
            <a:off x="533400" y="3082198"/>
            <a:ext cx="3771900" cy="8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76200" spcFirstLastPara="1" rIns="0" wrap="square" tIns="0">
            <a:noAutofit/>
          </a:bodyPr>
          <a:lstStyle/>
          <a:p>
            <a:pPr indent="-76200" lvl="0" marL="76200" marR="0" rtl="0" algn="l">
              <a:lnSpc>
                <a:spcPct val="155515"/>
              </a:lnSpc>
              <a:spcBef>
                <a:spcPts val="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Char char="•"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Median blur (5x5) for noise removal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76200" lvl="0" marL="76200" marR="0" rtl="0" algn="l">
              <a:lnSpc>
                <a:spcPct val="155515"/>
              </a:lnSpc>
              <a:spcBef>
                <a:spcPts val="30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Char char="•"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Binary threshold at 200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76200" lvl="0" marL="76200" marR="0" rtl="0" algn="l">
              <a:lnSpc>
                <a:spcPct val="155515"/>
              </a:lnSpc>
              <a:spcBef>
                <a:spcPts val="30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Char char="•"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Morphological open/dilate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76200" lvl="0" marL="76200" marR="0" rtl="0" algn="l">
              <a:lnSpc>
                <a:spcPct val="155515"/>
              </a:lnSpc>
              <a:spcBef>
                <a:spcPts val="300"/>
              </a:spcBef>
              <a:spcAft>
                <a:spcPts val="0"/>
              </a:spcAft>
              <a:buClr>
                <a:srgbClr val="E8F1F8"/>
              </a:buClr>
              <a:buSzPts val="825"/>
              <a:buFont typeface="Arial"/>
              <a:buChar char="•"/>
            </a:pPr>
            <a:r>
              <a:rPr lang="en-US" sz="825">
                <a:solidFill>
                  <a:srgbClr val="E8F1F8"/>
                </a:solidFill>
                <a:latin typeface="Arial"/>
                <a:ea typeface="Arial"/>
                <a:cs typeface="Arial"/>
                <a:sym typeface="Arial"/>
              </a:rPr>
              <a:t>Contour detection (area greater than 900px)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1"/>
          <p:cNvSpPr/>
          <p:nvPr/>
        </p:nvSpPr>
        <p:spPr>
          <a:xfrm>
            <a:off x="4686300" y="1482593"/>
            <a:ext cx="4076700" cy="1095000"/>
          </a:xfrm>
          <a:prstGeom prst="roundRect">
            <a:avLst>
              <a:gd fmla="val 6958" name="adj"/>
            </a:avLst>
          </a:prstGeom>
          <a:solidFill>
            <a:srgbClr val="1E3A5F"/>
          </a:solidFill>
          <a:ln cap="flat" cmpd="sng" w="9525">
            <a:solidFill>
              <a:srgbClr val="2A4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1"/>
          <p:cNvSpPr/>
          <p:nvPr/>
        </p:nvSpPr>
        <p:spPr>
          <a:xfrm>
            <a:off x="4848225" y="1644518"/>
            <a:ext cx="38280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Key Parameters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/>
          <p:nvPr/>
        </p:nvSpPr>
        <p:spPr>
          <a:xfrm>
            <a:off x="4848225" y="1899759"/>
            <a:ext cx="38280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history = 500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1"/>
          <p:cNvSpPr/>
          <p:nvPr/>
        </p:nvSpPr>
        <p:spPr>
          <a:xfrm>
            <a:off x="4848225" y="2084454"/>
            <a:ext cx="38280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varThreshold = 32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4848225" y="2269150"/>
            <a:ext cx="38280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detectShadows = True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4686300" y="2711021"/>
            <a:ext cx="4076700" cy="706500"/>
          </a:xfrm>
          <a:prstGeom prst="roundRect">
            <a:avLst>
              <a:gd fmla="val 10783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4838700" y="2863421"/>
            <a:ext cx="38472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Detection Flow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4838700" y="3118661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Frame → ROI → FG Mask → Contours → BBoxes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"/>
          <p:cNvSpPr/>
          <p:nvPr/>
        </p:nvSpPr>
        <p:spPr>
          <a:xfrm>
            <a:off x="4686300" y="3551007"/>
            <a:ext cx="4076700" cy="362100"/>
          </a:xfrm>
          <a:prstGeom prst="roundRect">
            <a:avLst>
              <a:gd fmla="val 15789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4800600" y="3665307"/>
            <a:ext cx="39252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Adaptive to lighting, handles multi-modal backgrounds, efficient for real-time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381000" y="304800"/>
            <a:ext cx="428453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Centroid Tracking Algorithm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2"/>
          <p:cNvSpPr/>
          <p:nvPr/>
        </p:nvSpPr>
        <p:spPr>
          <a:xfrm>
            <a:off x="381000" y="1536550"/>
            <a:ext cx="41583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ALGORITHM STEPS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381000" y="1810840"/>
            <a:ext cx="4076700" cy="388500"/>
          </a:xfrm>
          <a:prstGeom prst="roundRect">
            <a:avLst>
              <a:gd fmla="val 1470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3" name="Google Shape;213;p12"/>
          <p:cNvCxnSpPr/>
          <p:nvPr/>
        </p:nvCxnSpPr>
        <p:spPr>
          <a:xfrm>
            <a:off x="395288" y="1810840"/>
            <a:ext cx="0" cy="388500"/>
          </a:xfrm>
          <a:prstGeom prst="straightConnector1">
            <a:avLst/>
          </a:prstGeom>
          <a:noFill/>
          <a:ln cap="flat" cmpd="sng" w="2857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12"/>
          <p:cNvSpPr/>
          <p:nvPr/>
        </p:nvSpPr>
        <p:spPr>
          <a:xfrm>
            <a:off x="523875" y="1925140"/>
            <a:ext cx="38958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1. Compute centroids from bounding boxes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2"/>
          <p:cNvSpPr/>
          <p:nvPr/>
        </p:nvSpPr>
        <p:spPr>
          <a:xfrm>
            <a:off x="381000" y="2313730"/>
            <a:ext cx="4076700" cy="388500"/>
          </a:xfrm>
          <a:prstGeom prst="roundRect">
            <a:avLst>
              <a:gd fmla="val 1470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6" name="Google Shape;216;p12"/>
          <p:cNvCxnSpPr/>
          <p:nvPr/>
        </p:nvCxnSpPr>
        <p:spPr>
          <a:xfrm>
            <a:off x="395288" y="2313730"/>
            <a:ext cx="0" cy="388500"/>
          </a:xfrm>
          <a:prstGeom prst="straightConnector1">
            <a:avLst/>
          </a:prstGeom>
          <a:noFill/>
          <a:ln cap="flat" cmpd="sng" w="2857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7" name="Google Shape;217;p12"/>
          <p:cNvSpPr/>
          <p:nvPr/>
        </p:nvSpPr>
        <p:spPr>
          <a:xfrm>
            <a:off x="523875" y="2428030"/>
            <a:ext cx="38958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2. Match detections to existing tracks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2"/>
          <p:cNvSpPr/>
          <p:nvPr/>
        </p:nvSpPr>
        <p:spPr>
          <a:xfrm>
            <a:off x="381000" y="2816621"/>
            <a:ext cx="4076700" cy="388500"/>
          </a:xfrm>
          <a:prstGeom prst="roundRect">
            <a:avLst>
              <a:gd fmla="val 1470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12"/>
          <p:cNvCxnSpPr/>
          <p:nvPr/>
        </p:nvCxnSpPr>
        <p:spPr>
          <a:xfrm>
            <a:off x="395288" y="2816621"/>
            <a:ext cx="0" cy="388500"/>
          </a:xfrm>
          <a:prstGeom prst="straightConnector1">
            <a:avLst/>
          </a:prstGeom>
          <a:noFill/>
          <a:ln cap="flat" cmpd="sng" w="2857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12"/>
          <p:cNvSpPr/>
          <p:nvPr/>
        </p:nvSpPr>
        <p:spPr>
          <a:xfrm>
            <a:off x="523875" y="2930921"/>
            <a:ext cx="38958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3. Update existing or create new IDs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381000" y="3319511"/>
            <a:ext cx="4076700" cy="388500"/>
          </a:xfrm>
          <a:prstGeom prst="roundRect">
            <a:avLst>
              <a:gd fmla="val 1470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2" name="Google Shape;222;p12"/>
          <p:cNvCxnSpPr/>
          <p:nvPr/>
        </p:nvCxnSpPr>
        <p:spPr>
          <a:xfrm>
            <a:off x="395288" y="3319511"/>
            <a:ext cx="0" cy="388500"/>
          </a:xfrm>
          <a:prstGeom prst="straightConnector1">
            <a:avLst/>
          </a:prstGeom>
          <a:noFill/>
          <a:ln cap="flat" cmpd="sng" w="2857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" name="Google Shape;223;p12"/>
          <p:cNvSpPr/>
          <p:nvPr/>
        </p:nvSpPr>
        <p:spPr>
          <a:xfrm>
            <a:off x="523875" y="3433811"/>
            <a:ext cx="38958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4. Remove tracks after max_lost frames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/>
          <p:nvPr/>
        </p:nvSpPr>
        <p:spPr>
          <a:xfrm>
            <a:off x="4686300" y="1410939"/>
            <a:ext cx="4076700" cy="1226700"/>
          </a:xfrm>
          <a:prstGeom prst="roundRect">
            <a:avLst>
              <a:gd fmla="val 6211" name="adj"/>
            </a:avLst>
          </a:prstGeom>
          <a:solidFill>
            <a:srgbClr val="1E3A5F"/>
          </a:solidFill>
          <a:ln cap="flat" cmpd="sng" w="9525">
            <a:solidFill>
              <a:srgbClr val="2A4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4848225" y="1572864"/>
            <a:ext cx="38280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Track Data Structure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2"/>
          <p:cNvSpPr/>
          <p:nvPr/>
        </p:nvSpPr>
        <p:spPr>
          <a:xfrm>
            <a:off x="4848225" y="1828104"/>
            <a:ext cx="38280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centroid: (cx, cy)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4848225" y="1999554"/>
            <a:ext cx="38280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bbox: (x, y, w, h)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4848225" y="2171004"/>
            <a:ext cx="38280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lost: frame count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4848225" y="2342454"/>
            <a:ext cx="3828000" cy="1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history: position list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4686300" y="2771079"/>
            <a:ext cx="4076700" cy="1062600"/>
          </a:xfrm>
          <a:prstGeom prst="roundRect">
            <a:avLst>
              <a:gd fmla="val 7171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4838700" y="2923479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KEY PARAMETERS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4838700" y="3165325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max_lost = 10 frames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4838700" y="3350021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dist_thresh = 60 pixels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4838700" y="3534716"/>
            <a:ext cx="3847200" cy="1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History = Unlimited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381000" y="304800"/>
            <a:ext cx="4284536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400"/>
              <a:buFont typeface="Arial Black"/>
              <a:buNone/>
            </a:pPr>
            <a:r>
              <a:rPr b="1" lang="en-US" sz="240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Speed Estimation Algorithm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3"/>
          <p:cNvSpPr/>
          <p:nvPr/>
        </p:nvSpPr>
        <p:spPr>
          <a:xfrm>
            <a:off x="381000" y="1418332"/>
            <a:ext cx="4891980" cy="965746"/>
          </a:xfrm>
          <a:prstGeom prst="roundRect">
            <a:avLst>
              <a:gd fmla="val 7890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514350" y="1551682"/>
            <a:ext cx="4717786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STEP 1: PIXEL SPEED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514350" y="1774478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dist_px = sqrt[(x2-x1)^2 + (y2-y1)^2]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3"/>
          <p:cNvSpPr/>
          <p:nvPr/>
        </p:nvSpPr>
        <p:spPr>
          <a:xfrm>
            <a:off x="514350" y="1945928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time_s = window / fps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3"/>
          <p:cNvSpPr/>
          <p:nvPr/>
        </p:nvSpPr>
        <p:spPr>
          <a:xfrm>
            <a:off x="514350" y="2117378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speed_pxps = dist_px / time_s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381000" y="2498378"/>
            <a:ext cx="4891980" cy="965746"/>
          </a:xfrm>
          <a:prstGeom prst="roundRect">
            <a:avLst>
              <a:gd fmla="val 7890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514350" y="2631728"/>
            <a:ext cx="4717786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STEP 2: CALIBRATION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3"/>
          <p:cNvSpPr/>
          <p:nvPr/>
        </p:nvSpPr>
        <p:spPr>
          <a:xfrm>
            <a:off x="514350" y="2854523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lane_px = 100 pixels (measured)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3"/>
          <p:cNvSpPr/>
          <p:nvPr/>
        </p:nvSpPr>
        <p:spPr>
          <a:xfrm>
            <a:off x="514350" y="3025973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lane_meters = 3.65 m (standard)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514350" y="3197423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meters_per_pixel = 0.0365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381000" y="3578423"/>
            <a:ext cx="4891980" cy="794296"/>
          </a:xfrm>
          <a:prstGeom prst="roundRect">
            <a:avLst>
              <a:gd fmla="val 9593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3"/>
          <p:cNvSpPr/>
          <p:nvPr/>
        </p:nvSpPr>
        <p:spPr>
          <a:xfrm>
            <a:off x="514350" y="3711773"/>
            <a:ext cx="4717786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STEP 3: CONVERSION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3"/>
          <p:cNvSpPr/>
          <p:nvPr/>
        </p:nvSpPr>
        <p:spPr>
          <a:xfrm>
            <a:off x="514350" y="3934569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speed_mps = speed_pxps * meters_per_pixel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514350" y="4106019"/>
            <a:ext cx="4717786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speed_mph = speed_mps * 2.23694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5501580" y="1901428"/>
            <a:ext cx="3261420" cy="1479798"/>
          </a:xfrm>
          <a:prstGeom prst="roundRect">
            <a:avLst>
              <a:gd fmla="val 6437" name="adj"/>
            </a:avLst>
          </a:prstGeom>
          <a:solidFill>
            <a:srgbClr val="1E3A5F"/>
          </a:solidFill>
          <a:ln cap="flat" cmpd="sng" w="1905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5682707" y="2110978"/>
            <a:ext cx="2899166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COMPLETE FORMULA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/>
          <p:nvPr/>
        </p:nvSpPr>
        <p:spPr>
          <a:xfrm>
            <a:off x="5682707" y="2352824"/>
            <a:ext cx="2899166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V_mph = d_px * k * c / 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5682707" y="2634704"/>
            <a:ext cx="2899166" cy="119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V = Speed (mph)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5682707" y="2773710"/>
            <a:ext cx="2899166" cy="119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d = Pixel displacement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3"/>
          <p:cNvSpPr/>
          <p:nvPr/>
        </p:nvSpPr>
        <p:spPr>
          <a:xfrm>
            <a:off x="5682707" y="2912715"/>
            <a:ext cx="2899166" cy="119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k = meters/pixel scale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5682707" y="3051721"/>
            <a:ext cx="2899166" cy="1199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675"/>
              <a:buFont typeface="Arial"/>
              <a:buNone/>
            </a:pPr>
            <a:r>
              <a:rPr lang="en-US" sz="6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 = 2.23694 conversion</a:t>
            </a:r>
            <a:endParaRPr sz="6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3"/>
          <p:cNvSpPr/>
          <p:nvPr/>
        </p:nvSpPr>
        <p:spPr>
          <a:xfrm>
            <a:off x="5501580" y="3514576"/>
            <a:ext cx="3261420" cy="375196"/>
          </a:xfrm>
          <a:prstGeom prst="roundRect">
            <a:avLst>
              <a:gd fmla="val 20309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5615880" y="3628876"/>
            <a:ext cx="3093476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Moving average (k=7) smoothing applied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4"/>
          <p:cNvSpPr txBox="1"/>
          <p:nvPr/>
        </p:nvSpPr>
        <p:spPr>
          <a:xfrm>
            <a:off x="206952" y="300234"/>
            <a:ext cx="5353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Speed Estimation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4"/>
          <p:cNvSpPr/>
          <p:nvPr/>
        </p:nvSpPr>
        <p:spPr>
          <a:xfrm>
            <a:off x="216375" y="1281106"/>
            <a:ext cx="576072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 each track: compute centroid displacement over a short window → px/s.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Convert px → meters using scene scale (lane width ≈ 3.65 m).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Char char="•"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Convert m/s → mph (× 2.23694).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4"/>
          <p:cNvSpPr txBox="1"/>
          <p:nvPr/>
        </p:nvSpPr>
        <p:spPr>
          <a:xfrm>
            <a:off x="216375" y="836854"/>
            <a:ext cx="45720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Computation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216375" y="2571750"/>
            <a:ext cx="457200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Scale example (two points define lane width in pixels)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mnt/data/extracted_nb_imgs/cell25_out0_2100e1a56b.png" id="273" name="Google Shape;27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08552" y="2934063"/>
            <a:ext cx="3455582" cy="20476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extracted_nb_imgs/cell29_out0_0656d9184b.png" id="274" name="Google Shape;27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88375" y="2622870"/>
            <a:ext cx="4251959" cy="23566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5"/>
          <p:cNvSpPr txBox="1"/>
          <p:nvPr/>
        </p:nvSpPr>
        <p:spPr>
          <a:xfrm>
            <a:off x="287079" y="320380"/>
            <a:ext cx="803821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Stabilizing Speed: Smoothing / Filtering</a:t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5"/>
          <p:cNvSpPr txBox="1"/>
          <p:nvPr/>
        </p:nvSpPr>
        <p:spPr>
          <a:xfrm>
            <a:off x="287079" y="1279664"/>
            <a:ext cx="5592726" cy="16825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Tracking noise creates spikes in instantaneous speed.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We applied a moving-average smoother (and explored Kalman-style filtering).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Char char="•"/>
            </a:pPr>
            <a:r>
              <a:rPr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Smoother output is more stable for “speeding” decisions.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5"/>
          <p:cNvSpPr txBox="1"/>
          <p:nvPr/>
        </p:nvSpPr>
        <p:spPr>
          <a:xfrm>
            <a:off x="368692" y="910344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0A5FA"/>
              </a:buClr>
              <a:buSzPts val="1800"/>
              <a:buFont typeface="Calibri"/>
              <a:buNone/>
            </a:pPr>
            <a:r>
              <a:rPr b="1" lang="en-US" sz="1800">
                <a:solidFill>
                  <a:srgbClr val="60A5FA"/>
                </a:solidFill>
                <a:latin typeface="Calibri"/>
                <a:ea typeface="Calibri"/>
                <a:cs typeface="Calibri"/>
                <a:sym typeface="Calibri"/>
              </a:rPr>
              <a:t>Why smoothing?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mnt/data/extracted_nb_imgs/cell22_out0_b6905f2ab0.png" id="283" name="Google Shape;28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5045" y="2962176"/>
            <a:ext cx="4667693" cy="21581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/mnt/data/extracted_nb_imgs/cell32_out0_e468d250f1.png" id="284" name="Google Shape;28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638251" y="2408409"/>
            <a:ext cx="3337168" cy="2617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14517c67.png" id="290" name="Google Shape;29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6"/>
          <p:cNvSpPr/>
          <p:nvPr/>
        </p:nvSpPr>
        <p:spPr>
          <a:xfrm>
            <a:off x="304800" y="266700"/>
            <a:ext cx="436226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550"/>
              <a:buFont typeface="Arial Black"/>
              <a:buNone/>
            </a:pPr>
            <a:r>
              <a:rPr b="1" lang="en-US" sz="255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Training Results</a:t>
            </a:r>
            <a:endParaRPr sz="2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6"/>
          <p:cNvSpPr/>
          <p:nvPr/>
        </p:nvSpPr>
        <p:spPr>
          <a:xfrm>
            <a:off x="304800" y="647700"/>
            <a:ext cx="8705088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Binary Classification Model Performance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2166491" y="2688878"/>
            <a:ext cx="1708714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Training &amp; Validation Curves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ed175928.png" id="294" name="Google Shape;29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32140" y="876598"/>
            <a:ext cx="2907060" cy="1238101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16"/>
          <p:cNvSpPr/>
          <p:nvPr/>
        </p:nvSpPr>
        <p:spPr>
          <a:xfrm>
            <a:off x="6097380" y="1067098"/>
            <a:ext cx="2576581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VALIDATION ACCURACY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6097380" y="1284238"/>
            <a:ext cx="2576581" cy="6399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3600"/>
              <a:buFont typeface="Arial"/>
              <a:buNone/>
            </a:pPr>
            <a:r>
              <a:rPr b="1" lang="en-US" sz="36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99.2%</a:t>
            </a:r>
            <a:endParaRPr sz="3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6"/>
          <p:cNvSpPr/>
          <p:nvPr/>
        </p:nvSpPr>
        <p:spPr>
          <a:xfrm>
            <a:off x="5932140" y="2228999"/>
            <a:ext cx="2907060" cy="1211461"/>
          </a:xfrm>
          <a:prstGeom prst="roundRect">
            <a:avLst>
              <a:gd fmla="val 786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6084540" y="2381399"/>
            <a:ext cx="2654305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CLASSIFICATION REPORT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6"/>
          <p:cNvSpPr/>
          <p:nvPr/>
        </p:nvSpPr>
        <p:spPr>
          <a:xfrm>
            <a:off x="6084540" y="2655689"/>
            <a:ext cx="479551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Precision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6"/>
          <p:cNvSpPr/>
          <p:nvPr/>
        </p:nvSpPr>
        <p:spPr>
          <a:xfrm>
            <a:off x="8464302" y="2655689"/>
            <a:ext cx="226948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0.99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6"/>
          <p:cNvSpPr/>
          <p:nvPr/>
        </p:nvSpPr>
        <p:spPr>
          <a:xfrm>
            <a:off x="6084540" y="2891879"/>
            <a:ext cx="324103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Recall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6"/>
          <p:cNvSpPr/>
          <p:nvPr/>
        </p:nvSpPr>
        <p:spPr>
          <a:xfrm>
            <a:off x="8464302" y="2891879"/>
            <a:ext cx="226948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0.99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6"/>
          <p:cNvSpPr/>
          <p:nvPr/>
        </p:nvSpPr>
        <p:spPr>
          <a:xfrm>
            <a:off x="6084540" y="3128070"/>
            <a:ext cx="479551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F1-Score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6"/>
          <p:cNvSpPr/>
          <p:nvPr/>
        </p:nvSpPr>
        <p:spPr>
          <a:xfrm>
            <a:off x="8464302" y="3128070"/>
            <a:ext cx="226948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0.99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6"/>
          <p:cNvSpPr/>
          <p:nvPr/>
        </p:nvSpPr>
        <p:spPr>
          <a:xfrm>
            <a:off x="5932140" y="3554760"/>
            <a:ext cx="2907060" cy="1133177"/>
          </a:xfrm>
          <a:prstGeom prst="roundRect">
            <a:avLst>
              <a:gd fmla="val 8406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6"/>
          <p:cNvSpPr/>
          <p:nvPr/>
        </p:nvSpPr>
        <p:spPr>
          <a:xfrm>
            <a:off x="6084540" y="3707160"/>
            <a:ext cx="2654305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TRAINING DETAILS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6"/>
          <p:cNvSpPr/>
          <p:nvPr/>
        </p:nvSpPr>
        <p:spPr>
          <a:xfrm>
            <a:off x="6084540" y="3981450"/>
            <a:ext cx="582323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Epochs Run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6"/>
          <p:cNvSpPr/>
          <p:nvPr/>
        </p:nvSpPr>
        <p:spPr>
          <a:xfrm>
            <a:off x="8046244" y="3981450"/>
            <a:ext cx="653367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7 (Early Stop)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6"/>
          <p:cNvSpPr/>
          <p:nvPr/>
        </p:nvSpPr>
        <p:spPr>
          <a:xfrm>
            <a:off x="6084540" y="4185196"/>
            <a:ext cx="546649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Best Epoch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6"/>
          <p:cNvSpPr/>
          <p:nvPr/>
        </p:nvSpPr>
        <p:spPr>
          <a:xfrm>
            <a:off x="8628459" y="4185196"/>
            <a:ext cx="59507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6"/>
          <p:cNvSpPr/>
          <p:nvPr/>
        </p:nvSpPr>
        <p:spPr>
          <a:xfrm>
            <a:off x="6084540" y="4388941"/>
            <a:ext cx="487141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Final Loss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6"/>
          <p:cNvSpPr/>
          <p:nvPr/>
        </p:nvSpPr>
        <p:spPr>
          <a:xfrm>
            <a:off x="8424565" y="4388941"/>
            <a:ext cx="267480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0.024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6"/>
          <p:cNvSpPr/>
          <p:nvPr/>
        </p:nvSpPr>
        <p:spPr>
          <a:xfrm>
            <a:off x="304800" y="4781550"/>
            <a:ext cx="8705088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Presenter: Member 1 (Ashwathi Ashok)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82525" y="821722"/>
            <a:ext cx="5436781" cy="40931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06008873.png" id="320" name="Google Shape;32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17"/>
          <p:cNvSpPr/>
          <p:nvPr/>
        </p:nvSpPr>
        <p:spPr>
          <a:xfrm>
            <a:off x="304800" y="266700"/>
            <a:ext cx="63429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550"/>
              <a:buFont typeface="Arial Black"/>
              <a:buNone/>
            </a:pPr>
            <a:r>
              <a:rPr b="1" lang="en-US" sz="255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Speed Estimation Results</a:t>
            </a:r>
            <a:endParaRPr sz="2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318700" y="840869"/>
            <a:ext cx="87051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M6 Motorway Video Analysis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2096095" y="2688878"/>
            <a:ext cx="1428786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Speed Over Time Chart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/>
          <p:nvPr/>
        </p:nvSpPr>
        <p:spPr>
          <a:xfrm>
            <a:off x="5516910" y="748010"/>
            <a:ext cx="3322290" cy="2087612"/>
          </a:xfrm>
          <a:prstGeom prst="roundRect">
            <a:avLst>
              <a:gd fmla="val 4563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/>
          <p:nvPr/>
        </p:nvSpPr>
        <p:spPr>
          <a:xfrm>
            <a:off x="5669310" y="900410"/>
            <a:ext cx="307784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SPEED STATISTICS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7"/>
          <p:cNvSpPr/>
          <p:nvPr/>
        </p:nvSpPr>
        <p:spPr>
          <a:xfrm>
            <a:off x="5669310" y="1264146"/>
            <a:ext cx="801681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Average Speed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7"/>
          <p:cNvSpPr/>
          <p:nvPr/>
        </p:nvSpPr>
        <p:spPr>
          <a:xfrm>
            <a:off x="7991326" y="1193750"/>
            <a:ext cx="695474" cy="300930"/>
          </a:xfrm>
          <a:prstGeom prst="roundRect">
            <a:avLst>
              <a:gd fmla="val 12661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7"/>
          <p:cNvSpPr/>
          <p:nvPr/>
        </p:nvSpPr>
        <p:spPr>
          <a:xfrm>
            <a:off x="8105626" y="1250900"/>
            <a:ext cx="476211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45 mph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7"/>
          <p:cNvSpPr/>
          <p:nvPr/>
        </p:nvSpPr>
        <p:spPr>
          <a:xfrm>
            <a:off x="5669310" y="1660327"/>
            <a:ext cx="589761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Max Speed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7"/>
          <p:cNvSpPr/>
          <p:nvPr/>
        </p:nvSpPr>
        <p:spPr>
          <a:xfrm>
            <a:off x="7991326" y="1589931"/>
            <a:ext cx="695474" cy="300930"/>
          </a:xfrm>
          <a:prstGeom prst="roundRect">
            <a:avLst>
              <a:gd fmla="val 12661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7"/>
          <p:cNvSpPr/>
          <p:nvPr/>
        </p:nvSpPr>
        <p:spPr>
          <a:xfrm>
            <a:off x="8105626" y="1647081"/>
            <a:ext cx="476211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68 mph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7"/>
          <p:cNvSpPr/>
          <p:nvPr/>
        </p:nvSpPr>
        <p:spPr>
          <a:xfrm>
            <a:off x="5669310" y="2056507"/>
            <a:ext cx="557427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Min Speed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7"/>
          <p:cNvSpPr/>
          <p:nvPr/>
        </p:nvSpPr>
        <p:spPr>
          <a:xfrm>
            <a:off x="7991326" y="1986111"/>
            <a:ext cx="695474" cy="300930"/>
          </a:xfrm>
          <a:prstGeom prst="roundRect">
            <a:avLst>
              <a:gd fmla="val 12661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7"/>
          <p:cNvSpPr/>
          <p:nvPr/>
        </p:nvSpPr>
        <p:spPr>
          <a:xfrm>
            <a:off x="8105626" y="2043261"/>
            <a:ext cx="476211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22 mph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7"/>
          <p:cNvSpPr/>
          <p:nvPr/>
        </p:nvSpPr>
        <p:spPr>
          <a:xfrm>
            <a:off x="5669310" y="2452688"/>
            <a:ext cx="69344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Std Deviation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7"/>
          <p:cNvSpPr/>
          <p:nvPr/>
        </p:nvSpPr>
        <p:spPr>
          <a:xfrm>
            <a:off x="7918103" y="2382292"/>
            <a:ext cx="768697" cy="300930"/>
          </a:xfrm>
          <a:prstGeom prst="roundRect">
            <a:avLst>
              <a:gd fmla="val 12661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7"/>
          <p:cNvSpPr/>
          <p:nvPr/>
        </p:nvSpPr>
        <p:spPr>
          <a:xfrm>
            <a:off x="8032403" y="2439442"/>
            <a:ext cx="550899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±12 mph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7"/>
          <p:cNvSpPr/>
          <p:nvPr/>
        </p:nvSpPr>
        <p:spPr>
          <a:xfrm>
            <a:off x="5516910" y="2949922"/>
            <a:ext cx="3322290" cy="1230511"/>
          </a:xfrm>
          <a:prstGeom prst="roundRect">
            <a:avLst>
              <a:gd fmla="val 7741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7"/>
          <p:cNvSpPr/>
          <p:nvPr/>
        </p:nvSpPr>
        <p:spPr>
          <a:xfrm>
            <a:off x="5669310" y="3102322"/>
            <a:ext cx="307784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TRACKING SUMMARY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7"/>
          <p:cNvSpPr/>
          <p:nvPr/>
        </p:nvSpPr>
        <p:spPr>
          <a:xfrm>
            <a:off x="5669310" y="3395663"/>
            <a:ext cx="881378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Vehicles Tracked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7"/>
          <p:cNvSpPr/>
          <p:nvPr/>
        </p:nvSpPr>
        <p:spPr>
          <a:xfrm>
            <a:off x="8492877" y="3395663"/>
            <a:ext cx="197802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50+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7"/>
          <p:cNvSpPr/>
          <p:nvPr/>
        </p:nvSpPr>
        <p:spPr>
          <a:xfrm>
            <a:off x="5669310" y="3631853"/>
            <a:ext cx="978381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Frames Processed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7"/>
          <p:cNvSpPr/>
          <p:nvPr/>
        </p:nvSpPr>
        <p:spPr>
          <a:xfrm>
            <a:off x="8400752" y="3631853"/>
            <a:ext cx="291769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1,200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7"/>
          <p:cNvSpPr/>
          <p:nvPr/>
        </p:nvSpPr>
        <p:spPr>
          <a:xfrm>
            <a:off x="5669310" y="3868043"/>
            <a:ext cx="76919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Video Duration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7"/>
          <p:cNvSpPr/>
          <p:nvPr/>
        </p:nvSpPr>
        <p:spPr>
          <a:xfrm>
            <a:off x="8270379" y="3868043"/>
            <a:ext cx="424750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~40 sec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7"/>
          <p:cNvSpPr/>
          <p:nvPr/>
        </p:nvSpPr>
        <p:spPr>
          <a:xfrm>
            <a:off x="5516910" y="4294733"/>
            <a:ext cx="3322290" cy="521791"/>
          </a:xfrm>
          <a:prstGeom prst="roundRect">
            <a:avLst>
              <a:gd fmla="val 14604" name="adj"/>
            </a:avLst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7"/>
          <p:cNvSpPr/>
          <p:nvPr/>
        </p:nvSpPr>
        <p:spPr>
          <a:xfrm>
            <a:off x="5631210" y="4409033"/>
            <a:ext cx="3155564" cy="2931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825"/>
              <a:buFont typeface="Arial"/>
              <a:buNone/>
            </a:pPr>
            <a:r>
              <a:rPr b="1" lang="en-US" sz="82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Output:</a:t>
            </a: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 CSV file with frame-by-frame speed data for each tracked vehicle ID.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7"/>
          <p:cNvSpPr/>
          <p:nvPr/>
        </p:nvSpPr>
        <p:spPr>
          <a:xfrm>
            <a:off x="304800" y="4781550"/>
            <a:ext cx="8705088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Presenter: Member 3 (Vedhesh A. Saravanan)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9" name="Google Shape;34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8688" y="1060407"/>
            <a:ext cx="4983600" cy="373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8c748259.png" id="355" name="Google Shape;35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18"/>
          <p:cNvSpPr/>
          <p:nvPr/>
        </p:nvSpPr>
        <p:spPr>
          <a:xfrm>
            <a:off x="304800" y="266700"/>
            <a:ext cx="436226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550"/>
              <a:buFont typeface="Arial Black"/>
              <a:buNone/>
            </a:pPr>
            <a:r>
              <a:rPr b="1" lang="en-US" sz="255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Annotated Output</a:t>
            </a:r>
            <a:endParaRPr sz="2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8"/>
          <p:cNvSpPr/>
          <p:nvPr/>
        </p:nvSpPr>
        <p:spPr>
          <a:xfrm>
            <a:off x="314516" y="881903"/>
            <a:ext cx="8705088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Real-Time Vehicle Detection, Classification &amp; Speed Display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8"/>
          <p:cNvSpPr/>
          <p:nvPr/>
        </p:nvSpPr>
        <p:spPr>
          <a:xfrm>
            <a:off x="304800" y="1087636"/>
            <a:ext cx="8534400" cy="2459682"/>
          </a:xfrm>
          <a:prstGeom prst="roundRect">
            <a:avLst>
              <a:gd fmla="val 4647" name="adj"/>
            </a:avLst>
          </a:prstGeom>
          <a:solidFill>
            <a:srgbClr val="142238"/>
          </a:solidFill>
          <a:ln cap="flat" cmpd="sng" w="19050">
            <a:solidFill>
              <a:srgbClr val="2A4A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06d8b241.png" id="359" name="Google Shape;35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3850" y="1106686"/>
            <a:ext cx="8496300" cy="2421582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18"/>
          <p:cNvSpPr/>
          <p:nvPr/>
        </p:nvSpPr>
        <p:spPr>
          <a:xfrm>
            <a:off x="304800" y="3699718"/>
            <a:ext cx="2019300" cy="777032"/>
          </a:xfrm>
          <a:prstGeom prst="roundRect">
            <a:avLst>
              <a:gd fmla="val 980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1" name="Google Shape;361;p18"/>
          <p:cNvCxnSpPr/>
          <p:nvPr/>
        </p:nvCxnSpPr>
        <p:spPr>
          <a:xfrm>
            <a:off x="319088" y="3699718"/>
            <a:ext cx="0" cy="777032"/>
          </a:xfrm>
          <a:prstGeom prst="straightConnector1">
            <a:avLst/>
          </a:prstGeom>
          <a:noFill/>
          <a:ln cap="flat" cmpd="sng" w="2857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2" name="Google Shape;362;p18"/>
          <p:cNvSpPr/>
          <p:nvPr/>
        </p:nvSpPr>
        <p:spPr>
          <a:xfrm>
            <a:off x="466725" y="3833068"/>
            <a:ext cx="1758506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📦 Bounding Boxes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8"/>
          <p:cNvSpPr/>
          <p:nvPr/>
        </p:nvSpPr>
        <p:spPr>
          <a:xfrm>
            <a:off x="466725" y="4050209"/>
            <a:ext cx="1758506" cy="2931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Color-coded by vehicle type with unique track IDs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8"/>
          <p:cNvSpPr/>
          <p:nvPr/>
        </p:nvSpPr>
        <p:spPr>
          <a:xfrm>
            <a:off x="2476500" y="3699718"/>
            <a:ext cx="2019300" cy="777032"/>
          </a:xfrm>
          <a:prstGeom prst="roundRect">
            <a:avLst>
              <a:gd fmla="val 980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5" name="Google Shape;365;p18"/>
          <p:cNvCxnSpPr/>
          <p:nvPr/>
        </p:nvCxnSpPr>
        <p:spPr>
          <a:xfrm>
            <a:off x="2490788" y="3699718"/>
            <a:ext cx="0" cy="777032"/>
          </a:xfrm>
          <a:prstGeom prst="straightConnector1">
            <a:avLst/>
          </a:prstGeom>
          <a:noFill/>
          <a:ln cap="flat" cmpd="sng" w="2857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18"/>
          <p:cNvSpPr/>
          <p:nvPr/>
        </p:nvSpPr>
        <p:spPr>
          <a:xfrm>
            <a:off x="2638425" y="3833068"/>
            <a:ext cx="1758506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🏷️ Labels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8"/>
          <p:cNvSpPr/>
          <p:nvPr/>
        </p:nvSpPr>
        <p:spPr>
          <a:xfrm>
            <a:off x="2638425" y="4050209"/>
            <a:ext cx="1758506" cy="2931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Vehicle type + real-time speed in mph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8"/>
          <p:cNvSpPr/>
          <p:nvPr/>
        </p:nvSpPr>
        <p:spPr>
          <a:xfrm>
            <a:off x="4648200" y="3699718"/>
            <a:ext cx="2019300" cy="777032"/>
          </a:xfrm>
          <a:prstGeom prst="roundRect">
            <a:avLst>
              <a:gd fmla="val 980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9" name="Google Shape;369;p18"/>
          <p:cNvCxnSpPr/>
          <p:nvPr/>
        </p:nvCxnSpPr>
        <p:spPr>
          <a:xfrm>
            <a:off x="4662488" y="3699718"/>
            <a:ext cx="0" cy="777032"/>
          </a:xfrm>
          <a:prstGeom prst="straightConnector1">
            <a:avLst/>
          </a:prstGeom>
          <a:noFill/>
          <a:ln cap="flat" cmpd="sng" w="2857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0" name="Google Shape;370;p18"/>
          <p:cNvSpPr/>
          <p:nvPr/>
        </p:nvSpPr>
        <p:spPr>
          <a:xfrm>
            <a:off x="4810125" y="3833068"/>
            <a:ext cx="1758506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📊 CSV Export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8"/>
          <p:cNvSpPr/>
          <p:nvPr/>
        </p:nvSpPr>
        <p:spPr>
          <a:xfrm>
            <a:off x="4810125" y="4050209"/>
            <a:ext cx="1758506" cy="2931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Frame-by-frame tracking data for analysis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8"/>
          <p:cNvSpPr/>
          <p:nvPr/>
        </p:nvSpPr>
        <p:spPr>
          <a:xfrm>
            <a:off x="6819900" y="3772942"/>
            <a:ext cx="2019300" cy="630436"/>
          </a:xfrm>
          <a:prstGeom prst="roundRect">
            <a:avLst>
              <a:gd fmla="val 12087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73" name="Google Shape;373;p18"/>
          <p:cNvCxnSpPr/>
          <p:nvPr/>
        </p:nvCxnSpPr>
        <p:spPr>
          <a:xfrm>
            <a:off x="6834188" y="3772942"/>
            <a:ext cx="0" cy="630436"/>
          </a:xfrm>
          <a:prstGeom prst="straightConnector1">
            <a:avLst/>
          </a:prstGeom>
          <a:noFill/>
          <a:ln cap="flat" cmpd="sng" w="2857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4" name="Google Shape;374;p18"/>
          <p:cNvSpPr/>
          <p:nvPr/>
        </p:nvSpPr>
        <p:spPr>
          <a:xfrm>
            <a:off x="6981825" y="3906292"/>
            <a:ext cx="1758506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🎬 Video Output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8"/>
          <p:cNvSpPr/>
          <p:nvPr/>
        </p:nvSpPr>
        <p:spPr>
          <a:xfrm>
            <a:off x="6981825" y="4123432"/>
            <a:ext cx="1758506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MP4 with all annotations overlaid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8"/>
          <p:cNvSpPr/>
          <p:nvPr/>
        </p:nvSpPr>
        <p:spPr>
          <a:xfrm>
            <a:off x="304800" y="4781550"/>
            <a:ext cx="8705088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Live demo video will be played during presentation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mnt/data/extracted_nb_imgs/cell30_out0_0123e02b6d.png" id="377" name="Google Shape;37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110990" y="1130314"/>
            <a:ext cx="4709160" cy="2226493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8"/>
          <p:cNvSpPr txBox="1"/>
          <p:nvPr/>
        </p:nvSpPr>
        <p:spPr>
          <a:xfrm>
            <a:off x="202634" y="1289164"/>
            <a:ext cx="4045194" cy="20210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28600" lvl="0" marL="2286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Binary classifier (vehicle vs non-vehicle): ≈ 99.6% test accuracy.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Type classifier (bus/car/motorcycle/truck subset): ≈ 95.9% validation accuracy.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28600" lvl="0" marL="228600" marR="0" rtl="0" algn="l">
              <a:spcBef>
                <a:spcPts val="8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Speed estimation produces plausible mph trajectories; needs GT benchmark for MAE.</a:t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b770053e.png" id="384" name="Google Shape;38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19"/>
          <p:cNvSpPr/>
          <p:nvPr/>
        </p:nvSpPr>
        <p:spPr>
          <a:xfrm>
            <a:off x="304800" y="266700"/>
            <a:ext cx="436226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550"/>
              <a:buFont typeface="Arial Black"/>
              <a:buNone/>
            </a:pPr>
            <a:r>
              <a:rPr b="1" lang="en-US" sz="255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Key Achievements</a:t>
            </a:r>
            <a:endParaRPr sz="2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82d906a1.png" id="386" name="Google Shape;38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4800" y="1105049"/>
            <a:ext cx="4171950" cy="952351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19"/>
          <p:cNvSpPr/>
          <p:nvPr/>
        </p:nvSpPr>
        <p:spPr>
          <a:xfrm>
            <a:off x="485775" y="1286024"/>
            <a:ext cx="457200" cy="457200"/>
          </a:xfrm>
          <a:prstGeom prst="roundRect">
            <a:avLst>
              <a:gd fmla="val 20833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9"/>
          <p:cNvSpPr/>
          <p:nvPr/>
        </p:nvSpPr>
        <p:spPr>
          <a:xfrm>
            <a:off x="661392" y="1381274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9"/>
          <p:cNvSpPr/>
          <p:nvPr/>
        </p:nvSpPr>
        <p:spPr>
          <a:xfrm>
            <a:off x="1076325" y="1286024"/>
            <a:ext cx="3283839" cy="21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99.2% Detection Accuracy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9"/>
          <p:cNvSpPr/>
          <p:nvPr/>
        </p:nvSpPr>
        <p:spPr>
          <a:xfrm>
            <a:off x="1076325" y="1556445"/>
            <a:ext cx="3283839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Binary CNN classifier achieves near-perfect vehicle vs non-vehicle detection on validation set.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afa197ae.png" id="391" name="Google Shape;39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04800" y="2190750"/>
            <a:ext cx="4171950" cy="952351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19"/>
          <p:cNvSpPr/>
          <p:nvPr/>
        </p:nvSpPr>
        <p:spPr>
          <a:xfrm>
            <a:off x="485775" y="2371725"/>
            <a:ext cx="457200" cy="457200"/>
          </a:xfrm>
          <a:prstGeom prst="roundRect">
            <a:avLst>
              <a:gd fmla="val 20833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9"/>
          <p:cNvSpPr/>
          <p:nvPr/>
        </p:nvSpPr>
        <p:spPr>
          <a:xfrm>
            <a:off x="661392" y="2466975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9"/>
          <p:cNvSpPr/>
          <p:nvPr/>
        </p:nvSpPr>
        <p:spPr>
          <a:xfrm>
            <a:off x="1076325" y="2371725"/>
            <a:ext cx="3283839" cy="21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4-Class Type Classification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9"/>
          <p:cNvSpPr/>
          <p:nvPr/>
        </p:nvSpPr>
        <p:spPr>
          <a:xfrm>
            <a:off x="1076325" y="2642146"/>
            <a:ext cx="3283839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Successfully classifies vehicles into Car, Bus, Truck, and Motorcycle categories with 94% accuracy.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62a5189b.png" id="396" name="Google Shape;396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04800" y="3276451"/>
            <a:ext cx="4171950" cy="952351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19"/>
          <p:cNvSpPr/>
          <p:nvPr/>
        </p:nvSpPr>
        <p:spPr>
          <a:xfrm>
            <a:off x="485775" y="3457426"/>
            <a:ext cx="457200" cy="457200"/>
          </a:xfrm>
          <a:prstGeom prst="roundRect">
            <a:avLst>
              <a:gd fmla="val 20833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9"/>
          <p:cNvSpPr/>
          <p:nvPr/>
        </p:nvSpPr>
        <p:spPr>
          <a:xfrm>
            <a:off x="661392" y="3552676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9"/>
          <p:cNvSpPr/>
          <p:nvPr/>
        </p:nvSpPr>
        <p:spPr>
          <a:xfrm>
            <a:off x="1076325" y="3457426"/>
            <a:ext cx="3283839" cy="21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Real-Time Speed Estimation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9"/>
          <p:cNvSpPr/>
          <p:nvPr/>
        </p:nvSpPr>
        <p:spPr>
          <a:xfrm>
            <a:off x="1076325" y="3727847"/>
            <a:ext cx="3283839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Converts pixel motion to mph using lane-width calibration with smoothing for stability.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065bc843.png" id="401" name="Google Shape;401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667250" y="1105049"/>
            <a:ext cx="4171950" cy="952351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19"/>
          <p:cNvSpPr/>
          <p:nvPr/>
        </p:nvSpPr>
        <p:spPr>
          <a:xfrm>
            <a:off x="4848225" y="1286024"/>
            <a:ext cx="457200" cy="457200"/>
          </a:xfrm>
          <a:prstGeom prst="roundRect">
            <a:avLst>
              <a:gd fmla="val 20833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9"/>
          <p:cNvSpPr/>
          <p:nvPr/>
        </p:nvSpPr>
        <p:spPr>
          <a:xfrm>
            <a:off x="5023842" y="1381274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9"/>
          <p:cNvSpPr/>
          <p:nvPr/>
        </p:nvSpPr>
        <p:spPr>
          <a:xfrm>
            <a:off x="5438775" y="1286024"/>
            <a:ext cx="3283839" cy="21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Robust Multi-Object Tracking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9"/>
          <p:cNvSpPr/>
          <p:nvPr/>
        </p:nvSpPr>
        <p:spPr>
          <a:xfrm>
            <a:off x="5438775" y="1556445"/>
            <a:ext cx="3283839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Centroid tracker maintains unique IDs across frames, handles occlusions gracefully.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0a1552b1.png" id="406" name="Google Shape;406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67250" y="2190750"/>
            <a:ext cx="4171950" cy="952351"/>
          </a:xfrm>
          <a:prstGeom prst="rect">
            <a:avLst/>
          </a:prstGeom>
          <a:noFill/>
          <a:ln>
            <a:noFill/>
          </a:ln>
        </p:spPr>
      </p:pic>
      <p:sp>
        <p:nvSpPr>
          <p:cNvPr id="407" name="Google Shape;407;p19"/>
          <p:cNvSpPr/>
          <p:nvPr/>
        </p:nvSpPr>
        <p:spPr>
          <a:xfrm>
            <a:off x="4848225" y="2371725"/>
            <a:ext cx="457200" cy="457200"/>
          </a:xfrm>
          <a:prstGeom prst="roundRect">
            <a:avLst>
              <a:gd fmla="val 20833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9"/>
          <p:cNvSpPr/>
          <p:nvPr/>
        </p:nvSpPr>
        <p:spPr>
          <a:xfrm>
            <a:off x="5023842" y="2466975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9"/>
          <p:cNvSpPr/>
          <p:nvPr/>
        </p:nvSpPr>
        <p:spPr>
          <a:xfrm>
            <a:off x="5438775" y="2371725"/>
            <a:ext cx="3283839" cy="21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End-to-End Pipeline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9"/>
          <p:cNvSpPr/>
          <p:nvPr/>
        </p:nvSpPr>
        <p:spPr>
          <a:xfrm>
            <a:off x="5438775" y="2642146"/>
            <a:ext cx="3283839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Complete system from raw video input to annotated output with CSV data export.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tmp/rasterized-gradient-75303636.png" id="411" name="Google Shape;411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67250" y="3276451"/>
            <a:ext cx="4171950" cy="952351"/>
          </a:xfrm>
          <a:prstGeom prst="rect">
            <a:avLst/>
          </a:prstGeom>
          <a:noFill/>
          <a:ln>
            <a:noFill/>
          </a:ln>
        </p:spPr>
      </p:pic>
      <p:sp>
        <p:nvSpPr>
          <p:cNvPr id="412" name="Google Shape;412;p19"/>
          <p:cNvSpPr/>
          <p:nvPr/>
        </p:nvSpPr>
        <p:spPr>
          <a:xfrm>
            <a:off x="4848225" y="3457426"/>
            <a:ext cx="457200" cy="457200"/>
          </a:xfrm>
          <a:prstGeom prst="roundRect">
            <a:avLst>
              <a:gd fmla="val 20833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9"/>
          <p:cNvSpPr/>
          <p:nvPr/>
        </p:nvSpPr>
        <p:spPr>
          <a:xfrm>
            <a:off x="5023842" y="3552676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9"/>
          <p:cNvSpPr/>
          <p:nvPr/>
        </p:nvSpPr>
        <p:spPr>
          <a:xfrm>
            <a:off x="5438775" y="3457426"/>
            <a:ext cx="3283839" cy="2132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200"/>
              <a:buFont typeface="Arial"/>
              <a:buNone/>
            </a:pPr>
            <a:r>
              <a:rPr b="1" lang="en-US" sz="120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Multiple Video Sources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9"/>
          <p:cNvSpPr/>
          <p:nvPr/>
        </p:nvSpPr>
        <p:spPr>
          <a:xfrm>
            <a:off x="5438775" y="3727847"/>
            <a:ext cx="3283839" cy="319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Tested on M6 Motorway and Skybridge videos demonstrating generalization.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9"/>
          <p:cNvSpPr/>
          <p:nvPr/>
        </p:nvSpPr>
        <p:spPr>
          <a:xfrm>
            <a:off x="304800" y="4781550"/>
            <a:ext cx="8705088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All team members contributed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1a9cf65b.png" id="422" name="Google Shape;42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23" name="Google Shape;423;p20"/>
          <p:cNvSpPr/>
          <p:nvPr/>
        </p:nvSpPr>
        <p:spPr>
          <a:xfrm>
            <a:off x="304800" y="266700"/>
            <a:ext cx="436226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550"/>
              <a:buFont typeface="Arial Black"/>
              <a:buNone/>
            </a:pPr>
            <a:r>
              <a:rPr b="1" lang="en-US" sz="255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Challenges &amp; Solutions</a:t>
            </a:r>
            <a:endParaRPr sz="2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0"/>
          <p:cNvSpPr/>
          <p:nvPr/>
        </p:nvSpPr>
        <p:spPr>
          <a:xfrm>
            <a:off x="304800" y="783431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25" name="Google Shape;425;p20"/>
          <p:cNvCxnSpPr/>
          <p:nvPr/>
        </p:nvCxnSpPr>
        <p:spPr>
          <a:xfrm>
            <a:off x="323850" y="783431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6" name="Google Shape;426;p20"/>
          <p:cNvSpPr/>
          <p:nvPr/>
        </p:nvSpPr>
        <p:spPr>
          <a:xfrm>
            <a:off x="476250" y="916781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⚠️ CHALLENGE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0"/>
          <p:cNvSpPr/>
          <p:nvPr/>
        </p:nvSpPr>
        <p:spPr>
          <a:xfrm>
            <a:off x="476250" y="1133921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Speed Estimation Noise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0"/>
          <p:cNvSpPr/>
          <p:nvPr/>
        </p:nvSpPr>
        <p:spPr>
          <a:xfrm>
            <a:off x="476250" y="1345257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Frame-to-frame centroid jitter caused erratic speed readings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0"/>
          <p:cNvSpPr/>
          <p:nvPr/>
        </p:nvSpPr>
        <p:spPr>
          <a:xfrm>
            <a:off x="4648200" y="783431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0" name="Google Shape;430;p20"/>
          <p:cNvCxnSpPr/>
          <p:nvPr/>
        </p:nvCxnSpPr>
        <p:spPr>
          <a:xfrm>
            <a:off x="4667250" y="783431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1" name="Google Shape;431;p20"/>
          <p:cNvSpPr/>
          <p:nvPr/>
        </p:nvSpPr>
        <p:spPr>
          <a:xfrm>
            <a:off x="4819650" y="916781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✓ SOLUTION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0"/>
          <p:cNvSpPr/>
          <p:nvPr/>
        </p:nvSpPr>
        <p:spPr>
          <a:xfrm>
            <a:off x="4819650" y="1133921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Moving Average Filter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20"/>
          <p:cNvSpPr/>
          <p:nvPr/>
        </p:nvSpPr>
        <p:spPr>
          <a:xfrm>
            <a:off x="4819650" y="1345257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Applied k=7 window smoothing and 5-frame displacement window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0"/>
          <p:cNvSpPr/>
          <p:nvPr/>
        </p:nvSpPr>
        <p:spPr>
          <a:xfrm>
            <a:off x="304800" y="1758553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5" name="Google Shape;435;p20"/>
          <p:cNvCxnSpPr/>
          <p:nvPr/>
        </p:nvCxnSpPr>
        <p:spPr>
          <a:xfrm>
            <a:off x="323850" y="1758553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36" name="Google Shape;436;p20"/>
          <p:cNvSpPr/>
          <p:nvPr/>
        </p:nvSpPr>
        <p:spPr>
          <a:xfrm>
            <a:off x="476250" y="1891903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⚠️ CHALLENGE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0"/>
          <p:cNvSpPr/>
          <p:nvPr/>
        </p:nvSpPr>
        <p:spPr>
          <a:xfrm>
            <a:off x="476250" y="2109043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Shadow Detection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0"/>
          <p:cNvSpPr/>
          <p:nvPr/>
        </p:nvSpPr>
        <p:spPr>
          <a:xfrm>
            <a:off x="476250" y="2320379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MOG2 detected shadows as foreground objects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0"/>
          <p:cNvSpPr/>
          <p:nvPr/>
        </p:nvSpPr>
        <p:spPr>
          <a:xfrm>
            <a:off x="4648200" y="1758553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0" name="Google Shape;440;p20"/>
          <p:cNvCxnSpPr/>
          <p:nvPr/>
        </p:nvCxnSpPr>
        <p:spPr>
          <a:xfrm>
            <a:off x="4667250" y="1758553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20"/>
          <p:cNvSpPr/>
          <p:nvPr/>
        </p:nvSpPr>
        <p:spPr>
          <a:xfrm>
            <a:off x="4819650" y="1891903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✓ SOLUTION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0"/>
          <p:cNvSpPr/>
          <p:nvPr/>
        </p:nvSpPr>
        <p:spPr>
          <a:xfrm>
            <a:off x="4819650" y="2109043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Shadow Removal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0"/>
          <p:cNvSpPr/>
          <p:nvPr/>
        </p:nvSpPr>
        <p:spPr>
          <a:xfrm>
            <a:off x="4819650" y="2320379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Set shadow pixels (gray=127) to 0 before thresholding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0"/>
          <p:cNvSpPr/>
          <p:nvPr/>
        </p:nvSpPr>
        <p:spPr>
          <a:xfrm>
            <a:off x="304800" y="2733675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45" name="Google Shape;445;p20"/>
          <p:cNvCxnSpPr/>
          <p:nvPr/>
        </p:nvCxnSpPr>
        <p:spPr>
          <a:xfrm>
            <a:off x="323850" y="2733675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6" name="Google Shape;446;p20"/>
          <p:cNvSpPr/>
          <p:nvPr/>
        </p:nvSpPr>
        <p:spPr>
          <a:xfrm>
            <a:off x="476250" y="2867025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⚠️ CHALLENGE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20"/>
          <p:cNvSpPr/>
          <p:nvPr/>
        </p:nvSpPr>
        <p:spPr>
          <a:xfrm>
            <a:off x="476250" y="3084165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Flickering Type Labels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0"/>
          <p:cNvSpPr/>
          <p:nvPr/>
        </p:nvSpPr>
        <p:spPr>
          <a:xfrm>
            <a:off x="476250" y="3295501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Classification changed frame-to-frame for same vehicle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0"/>
          <p:cNvSpPr/>
          <p:nvPr/>
        </p:nvSpPr>
        <p:spPr>
          <a:xfrm>
            <a:off x="4648200" y="2733675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0" name="Google Shape;450;p20"/>
          <p:cNvCxnSpPr/>
          <p:nvPr/>
        </p:nvCxnSpPr>
        <p:spPr>
          <a:xfrm>
            <a:off x="4667250" y="2733675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1" name="Google Shape;451;p20"/>
          <p:cNvSpPr/>
          <p:nvPr/>
        </p:nvSpPr>
        <p:spPr>
          <a:xfrm>
            <a:off x="4819650" y="2867025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✓ SOLUTION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0"/>
          <p:cNvSpPr/>
          <p:nvPr/>
        </p:nvSpPr>
        <p:spPr>
          <a:xfrm>
            <a:off x="4819650" y="3084165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Majority Voting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20"/>
          <p:cNvSpPr/>
          <p:nvPr/>
        </p:nvSpPr>
        <p:spPr>
          <a:xfrm>
            <a:off x="4819650" y="3295501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Track votes per ID, display most common classification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0"/>
          <p:cNvSpPr/>
          <p:nvPr/>
        </p:nvSpPr>
        <p:spPr>
          <a:xfrm>
            <a:off x="304800" y="3708797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5" name="Google Shape;455;p20"/>
          <p:cNvCxnSpPr/>
          <p:nvPr/>
        </p:nvCxnSpPr>
        <p:spPr>
          <a:xfrm>
            <a:off x="323850" y="3708797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6" name="Google Shape;456;p20"/>
          <p:cNvSpPr/>
          <p:nvPr/>
        </p:nvSpPr>
        <p:spPr>
          <a:xfrm>
            <a:off x="476250" y="3842147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⚠️ CHALLENGE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0"/>
          <p:cNvSpPr/>
          <p:nvPr/>
        </p:nvSpPr>
        <p:spPr>
          <a:xfrm>
            <a:off x="476250" y="4059287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Camera Calibration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0"/>
          <p:cNvSpPr/>
          <p:nvPr/>
        </p:nvSpPr>
        <p:spPr>
          <a:xfrm>
            <a:off x="476250" y="4270623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Unknown pixel-to-meter conversion factor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20"/>
          <p:cNvSpPr/>
          <p:nvPr/>
        </p:nvSpPr>
        <p:spPr>
          <a:xfrm>
            <a:off x="4648200" y="3708797"/>
            <a:ext cx="4191000" cy="841772"/>
          </a:xfrm>
          <a:prstGeom prst="roundRect">
            <a:avLst>
              <a:gd fmla="val 9052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0" name="Google Shape;460;p20"/>
          <p:cNvCxnSpPr/>
          <p:nvPr/>
        </p:nvCxnSpPr>
        <p:spPr>
          <a:xfrm>
            <a:off x="4667250" y="3708797"/>
            <a:ext cx="0" cy="841772"/>
          </a:xfrm>
          <a:prstGeom prst="straightConnector1">
            <a:avLst/>
          </a:prstGeom>
          <a:noFill/>
          <a:ln cap="flat" cmpd="sng" w="381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1" name="Google Shape;461;p20"/>
          <p:cNvSpPr/>
          <p:nvPr/>
        </p:nvSpPr>
        <p:spPr>
          <a:xfrm>
            <a:off x="4819650" y="3842147"/>
            <a:ext cx="3963924" cy="159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✓ SOLUTION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0"/>
          <p:cNvSpPr/>
          <p:nvPr/>
        </p:nvSpPr>
        <p:spPr>
          <a:xfrm>
            <a:off x="4819650" y="4059287"/>
            <a:ext cx="396392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Lane Width Reference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0"/>
          <p:cNvSpPr/>
          <p:nvPr/>
        </p:nvSpPr>
        <p:spPr>
          <a:xfrm>
            <a:off x="4819650" y="4270623"/>
            <a:ext cx="396392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Measured lane in pixels, used standard 3.65m width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0"/>
          <p:cNvSpPr/>
          <p:nvPr/>
        </p:nvSpPr>
        <p:spPr>
          <a:xfrm>
            <a:off x="304800" y="4781550"/>
            <a:ext cx="8705088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All team members contributed to problem-solving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tmp/rasterized-gradient-2cc8f7f4.png" id="470" name="Google Shape;47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7150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21"/>
          <p:cNvSpPr/>
          <p:nvPr/>
        </p:nvSpPr>
        <p:spPr>
          <a:xfrm>
            <a:off x="304800" y="266700"/>
            <a:ext cx="4362260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2550"/>
              <a:buFont typeface="Arial Black"/>
              <a:buNone/>
            </a:pPr>
            <a:r>
              <a:rPr b="1" lang="en-US" sz="255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Future Work</a:t>
            </a:r>
            <a:endParaRPr sz="25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1"/>
          <p:cNvSpPr/>
          <p:nvPr/>
        </p:nvSpPr>
        <p:spPr>
          <a:xfrm>
            <a:off x="304800" y="647700"/>
            <a:ext cx="8705088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Potential Improvements and Extensions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1"/>
          <p:cNvSpPr/>
          <p:nvPr/>
        </p:nvSpPr>
        <p:spPr>
          <a:xfrm>
            <a:off x="304800" y="1508968"/>
            <a:ext cx="4171950" cy="870347"/>
          </a:xfrm>
          <a:prstGeom prst="roundRect">
            <a:avLst>
              <a:gd fmla="val 10944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4" name="Google Shape;474;p21"/>
          <p:cNvCxnSpPr/>
          <p:nvPr/>
        </p:nvCxnSpPr>
        <p:spPr>
          <a:xfrm>
            <a:off x="304800" y="1523256"/>
            <a:ext cx="4171950" cy="0"/>
          </a:xfrm>
          <a:prstGeom prst="straightConnector1">
            <a:avLst/>
          </a:prstGeom>
          <a:noFill/>
          <a:ln cap="flat" cmpd="sng" w="2857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5" name="Google Shape;475;p21"/>
          <p:cNvSpPr/>
          <p:nvPr/>
        </p:nvSpPr>
        <p:spPr>
          <a:xfrm>
            <a:off x="457200" y="1689943"/>
            <a:ext cx="266700" cy="266700"/>
          </a:xfrm>
          <a:prstGeom prst="roundRect">
            <a:avLst>
              <a:gd fmla="val 21429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21"/>
          <p:cNvSpPr/>
          <p:nvPr/>
        </p:nvSpPr>
        <p:spPr>
          <a:xfrm>
            <a:off x="537567" y="1689943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1"/>
          <p:cNvSpPr/>
          <p:nvPr/>
        </p:nvSpPr>
        <p:spPr>
          <a:xfrm>
            <a:off x="838200" y="1689943"/>
            <a:ext cx="3555873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YOLO-based Detection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1"/>
          <p:cNvSpPr/>
          <p:nvPr/>
        </p:nvSpPr>
        <p:spPr>
          <a:xfrm>
            <a:off x="838200" y="1933724"/>
            <a:ext cx="3555873" cy="2931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Replace MOG2 with </a:t>
            </a:r>
            <a:r>
              <a:rPr lang="en-US" sz="825">
                <a:solidFill>
                  <a:srgbClr val="8FA8C8"/>
                </a:solidFill>
              </a:rPr>
              <a:t>YOLO v8</a:t>
            </a: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 for more robust detection in varying conditions.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1"/>
          <p:cNvSpPr/>
          <p:nvPr/>
        </p:nvSpPr>
        <p:spPr>
          <a:xfrm>
            <a:off x="304800" y="2493615"/>
            <a:ext cx="4171950" cy="723751"/>
          </a:xfrm>
          <a:prstGeom prst="roundRect">
            <a:avLst>
              <a:gd fmla="val 13161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0" name="Google Shape;480;p21"/>
          <p:cNvCxnSpPr/>
          <p:nvPr/>
        </p:nvCxnSpPr>
        <p:spPr>
          <a:xfrm>
            <a:off x="304800" y="2507903"/>
            <a:ext cx="4171950" cy="0"/>
          </a:xfrm>
          <a:prstGeom prst="straightConnector1">
            <a:avLst/>
          </a:prstGeom>
          <a:noFill/>
          <a:ln cap="flat" cmpd="sng" w="2857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1" name="Google Shape;481;p21"/>
          <p:cNvSpPr/>
          <p:nvPr/>
        </p:nvSpPr>
        <p:spPr>
          <a:xfrm>
            <a:off x="457200" y="2674590"/>
            <a:ext cx="266700" cy="266700"/>
          </a:xfrm>
          <a:prstGeom prst="roundRect">
            <a:avLst>
              <a:gd fmla="val 21429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1"/>
          <p:cNvSpPr/>
          <p:nvPr/>
        </p:nvSpPr>
        <p:spPr>
          <a:xfrm>
            <a:off x="537567" y="2674590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1"/>
          <p:cNvSpPr/>
          <p:nvPr/>
        </p:nvSpPr>
        <p:spPr>
          <a:xfrm>
            <a:off x="838200" y="2674590"/>
            <a:ext cx="3510635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Homography Calibration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21"/>
          <p:cNvSpPr/>
          <p:nvPr/>
        </p:nvSpPr>
        <p:spPr>
          <a:xfrm>
            <a:off x="838200" y="2918371"/>
            <a:ext cx="3510635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Implement camera calibration with homography matrix for accurate speed.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1"/>
          <p:cNvSpPr/>
          <p:nvPr/>
        </p:nvSpPr>
        <p:spPr>
          <a:xfrm>
            <a:off x="304800" y="3331666"/>
            <a:ext cx="4171950" cy="723751"/>
          </a:xfrm>
          <a:prstGeom prst="roundRect">
            <a:avLst>
              <a:gd fmla="val 13161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6" name="Google Shape;486;p21"/>
          <p:cNvCxnSpPr/>
          <p:nvPr/>
        </p:nvCxnSpPr>
        <p:spPr>
          <a:xfrm>
            <a:off x="304800" y="3345954"/>
            <a:ext cx="4171950" cy="0"/>
          </a:xfrm>
          <a:prstGeom prst="straightConnector1">
            <a:avLst/>
          </a:prstGeom>
          <a:noFill/>
          <a:ln cap="flat" cmpd="sng" w="2857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7" name="Google Shape;487;p21"/>
          <p:cNvSpPr/>
          <p:nvPr/>
        </p:nvSpPr>
        <p:spPr>
          <a:xfrm>
            <a:off x="457200" y="3512641"/>
            <a:ext cx="266700" cy="266700"/>
          </a:xfrm>
          <a:prstGeom prst="roundRect">
            <a:avLst>
              <a:gd fmla="val 21429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1"/>
          <p:cNvSpPr/>
          <p:nvPr/>
        </p:nvSpPr>
        <p:spPr>
          <a:xfrm>
            <a:off x="537567" y="3512641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1"/>
          <p:cNvSpPr/>
          <p:nvPr/>
        </p:nvSpPr>
        <p:spPr>
          <a:xfrm>
            <a:off x="838200" y="3512641"/>
            <a:ext cx="3457807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DeepSORT Tracking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1"/>
          <p:cNvSpPr/>
          <p:nvPr/>
        </p:nvSpPr>
        <p:spPr>
          <a:xfrm>
            <a:off x="838200" y="3756422"/>
            <a:ext cx="3457807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Use deep appearance features to handle occlusions and re-identification.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21"/>
          <p:cNvSpPr/>
          <p:nvPr/>
        </p:nvSpPr>
        <p:spPr>
          <a:xfrm>
            <a:off x="4667250" y="1582192"/>
            <a:ext cx="4171950" cy="723751"/>
          </a:xfrm>
          <a:prstGeom prst="roundRect">
            <a:avLst>
              <a:gd fmla="val 13161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2" name="Google Shape;492;p21"/>
          <p:cNvCxnSpPr/>
          <p:nvPr/>
        </p:nvCxnSpPr>
        <p:spPr>
          <a:xfrm>
            <a:off x="4667250" y="1596479"/>
            <a:ext cx="4171950" cy="0"/>
          </a:xfrm>
          <a:prstGeom prst="straightConnector1">
            <a:avLst/>
          </a:prstGeom>
          <a:noFill/>
          <a:ln cap="flat" cmpd="sng" w="2857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3" name="Google Shape;493;p21"/>
          <p:cNvSpPr/>
          <p:nvPr/>
        </p:nvSpPr>
        <p:spPr>
          <a:xfrm>
            <a:off x="4819650" y="1763167"/>
            <a:ext cx="266700" cy="266700"/>
          </a:xfrm>
          <a:prstGeom prst="roundRect">
            <a:avLst>
              <a:gd fmla="val 21429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21"/>
          <p:cNvSpPr/>
          <p:nvPr/>
        </p:nvSpPr>
        <p:spPr>
          <a:xfrm>
            <a:off x="4900017" y="1763167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21"/>
          <p:cNvSpPr/>
          <p:nvPr/>
        </p:nvSpPr>
        <p:spPr>
          <a:xfrm>
            <a:off x="5200650" y="1763167"/>
            <a:ext cx="3451431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Real-Time Optimization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21"/>
          <p:cNvSpPr/>
          <p:nvPr/>
        </p:nvSpPr>
        <p:spPr>
          <a:xfrm>
            <a:off x="5200650" y="2006947"/>
            <a:ext cx="3451431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GPU acceleration with TensorRT for edge deployment on NVIDIA Jetson.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21"/>
          <p:cNvSpPr/>
          <p:nvPr/>
        </p:nvSpPr>
        <p:spPr>
          <a:xfrm>
            <a:off x="4667250" y="2420243"/>
            <a:ext cx="4171950" cy="723751"/>
          </a:xfrm>
          <a:prstGeom prst="roundRect">
            <a:avLst>
              <a:gd fmla="val 13161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8" name="Google Shape;498;p21"/>
          <p:cNvCxnSpPr/>
          <p:nvPr/>
        </p:nvCxnSpPr>
        <p:spPr>
          <a:xfrm>
            <a:off x="4667250" y="2434530"/>
            <a:ext cx="4171950" cy="0"/>
          </a:xfrm>
          <a:prstGeom prst="straightConnector1">
            <a:avLst/>
          </a:prstGeom>
          <a:noFill/>
          <a:ln cap="flat" cmpd="sng" w="28575">
            <a:solidFill>
              <a:srgbClr val="FF6B3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21"/>
          <p:cNvSpPr/>
          <p:nvPr/>
        </p:nvSpPr>
        <p:spPr>
          <a:xfrm>
            <a:off x="4819650" y="2601218"/>
            <a:ext cx="266700" cy="266700"/>
          </a:xfrm>
          <a:prstGeom prst="roundRect">
            <a:avLst>
              <a:gd fmla="val 21429" name="adj"/>
            </a:avLst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1"/>
          <p:cNvSpPr/>
          <p:nvPr/>
        </p:nvSpPr>
        <p:spPr>
          <a:xfrm>
            <a:off x="4900017" y="2601218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21"/>
          <p:cNvSpPr/>
          <p:nvPr/>
        </p:nvSpPr>
        <p:spPr>
          <a:xfrm>
            <a:off x="5200650" y="2601218"/>
            <a:ext cx="3057954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Traffic Analytics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21"/>
          <p:cNvSpPr/>
          <p:nvPr/>
        </p:nvSpPr>
        <p:spPr>
          <a:xfrm>
            <a:off x="5200650" y="2844998"/>
            <a:ext cx="3057954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Add vehicle counting, lane occupancy, and congestion detection.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21"/>
          <p:cNvSpPr/>
          <p:nvPr/>
        </p:nvSpPr>
        <p:spPr>
          <a:xfrm>
            <a:off x="4667250" y="3258294"/>
            <a:ext cx="4171950" cy="723751"/>
          </a:xfrm>
          <a:prstGeom prst="roundRect">
            <a:avLst>
              <a:gd fmla="val 13161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4" name="Google Shape;504;p21"/>
          <p:cNvCxnSpPr/>
          <p:nvPr/>
        </p:nvCxnSpPr>
        <p:spPr>
          <a:xfrm>
            <a:off x="4667250" y="3272582"/>
            <a:ext cx="4171950" cy="0"/>
          </a:xfrm>
          <a:prstGeom prst="straightConnector1">
            <a:avLst/>
          </a:prstGeom>
          <a:noFill/>
          <a:ln cap="flat" cmpd="sng" w="28575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05" name="Google Shape;505;p21"/>
          <p:cNvSpPr/>
          <p:nvPr/>
        </p:nvSpPr>
        <p:spPr>
          <a:xfrm>
            <a:off x="4819650" y="3439269"/>
            <a:ext cx="266700" cy="266700"/>
          </a:xfrm>
          <a:prstGeom prst="roundRect">
            <a:avLst>
              <a:gd fmla="val 21429" name="adj"/>
            </a:avLst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21"/>
          <p:cNvSpPr/>
          <p:nvPr/>
        </p:nvSpPr>
        <p:spPr>
          <a:xfrm>
            <a:off x="4900017" y="3439269"/>
            <a:ext cx="10808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A1628"/>
              </a:buClr>
              <a:buSzPts val="1500"/>
              <a:buFont typeface="Arial"/>
              <a:buNone/>
            </a:pPr>
            <a:r>
              <a:rPr lang="en-US" sz="1500">
                <a:solidFill>
                  <a:srgbClr val="0A1628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21"/>
          <p:cNvSpPr/>
          <p:nvPr/>
        </p:nvSpPr>
        <p:spPr>
          <a:xfrm>
            <a:off x="5200650" y="3439269"/>
            <a:ext cx="2584171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Night Vision Support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21"/>
          <p:cNvSpPr/>
          <p:nvPr/>
        </p:nvSpPr>
        <p:spPr>
          <a:xfrm>
            <a:off x="5200650" y="3683050"/>
            <a:ext cx="2584171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Train on infrared footage for 24/7 monitoring capability.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1"/>
          <p:cNvSpPr/>
          <p:nvPr/>
        </p:nvSpPr>
        <p:spPr>
          <a:xfrm>
            <a:off x="304800" y="4781550"/>
            <a:ext cx="8705088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750"/>
              <a:buFont typeface="Arial"/>
              <a:buNone/>
            </a:pPr>
            <a:r>
              <a:rPr lang="en-US" sz="750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All team members contributed</a:t>
            </a:r>
            <a:endParaRPr sz="7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1628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22"/>
          <p:cNvSpPr/>
          <p:nvPr/>
        </p:nvSpPr>
        <p:spPr>
          <a:xfrm>
            <a:off x="0" y="0"/>
            <a:ext cx="1143000" cy="762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22"/>
          <p:cNvSpPr/>
          <p:nvPr/>
        </p:nvSpPr>
        <p:spPr>
          <a:xfrm>
            <a:off x="0" y="0"/>
            <a:ext cx="76200" cy="1143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22"/>
          <p:cNvSpPr/>
          <p:nvPr/>
        </p:nvSpPr>
        <p:spPr>
          <a:xfrm>
            <a:off x="8001000" y="5067300"/>
            <a:ext cx="1143000" cy="762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22"/>
          <p:cNvSpPr/>
          <p:nvPr/>
        </p:nvSpPr>
        <p:spPr>
          <a:xfrm>
            <a:off x="9067800" y="4000500"/>
            <a:ext cx="76200" cy="1143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22"/>
          <p:cNvSpPr/>
          <p:nvPr/>
        </p:nvSpPr>
        <p:spPr>
          <a:xfrm>
            <a:off x="3479994" y="394559"/>
            <a:ext cx="218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3150"/>
              <a:buFont typeface="Arial Black"/>
              <a:buNone/>
            </a:pPr>
            <a:r>
              <a:rPr b="1" lang="en-US" sz="3150">
                <a:solidFill>
                  <a:srgbClr val="F0F4F8"/>
                </a:solidFill>
                <a:latin typeface="Arial Black"/>
                <a:ea typeface="Arial Black"/>
                <a:cs typeface="Arial Black"/>
                <a:sym typeface="Arial Black"/>
              </a:rPr>
              <a:t>Thank You!</a:t>
            </a:r>
            <a:endParaRPr sz="3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2"/>
          <p:cNvSpPr/>
          <p:nvPr/>
        </p:nvSpPr>
        <p:spPr>
          <a:xfrm>
            <a:off x="1238250" y="1526084"/>
            <a:ext cx="6667500" cy="1253430"/>
          </a:xfrm>
          <a:prstGeom prst="roundRect">
            <a:avLst>
              <a:gd fmla="val 9119" name="adj"/>
            </a:avLst>
          </a:prstGeom>
          <a:solidFill>
            <a:srgbClr val="14223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22"/>
          <p:cNvSpPr/>
          <p:nvPr/>
        </p:nvSpPr>
        <p:spPr>
          <a:xfrm>
            <a:off x="1482471" y="1754684"/>
            <a:ext cx="6179058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50"/>
              <a:buFont typeface="Arial"/>
              <a:buNone/>
            </a:pPr>
            <a:r>
              <a:rPr b="1" lang="en-US" sz="105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PROJECT SUMMARY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22"/>
          <p:cNvSpPr/>
          <p:nvPr/>
        </p:nvSpPr>
        <p:spPr>
          <a:xfrm>
            <a:off x="1482471" y="2093714"/>
            <a:ext cx="617905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125"/>
              <a:buFont typeface="Arial"/>
              <a:buNone/>
            </a:pPr>
            <a:r>
              <a:rPr lang="en-US" sz="11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We developed an end-to-end system for </a:t>
            </a:r>
            <a:r>
              <a:rPr b="1" lang="en-US" sz="11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vehicle detection</a:t>
            </a:r>
            <a:r>
              <a:rPr lang="en-US" sz="11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en-US" sz="1125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type classification</a:t>
            </a:r>
            <a:r>
              <a:rPr lang="en-US" sz="11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b="1" lang="en-US" sz="1125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speed estimation</a:t>
            </a:r>
            <a:r>
              <a:rPr lang="en-US" sz="1125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 using deep learning and computer vision techniques.</a:t>
            </a:r>
            <a:endParaRPr sz="11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22"/>
          <p:cNvSpPr/>
          <p:nvPr/>
        </p:nvSpPr>
        <p:spPr>
          <a:xfrm>
            <a:off x="2529779" y="3046214"/>
            <a:ext cx="683273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22"/>
          <p:cNvSpPr/>
          <p:nvPr/>
        </p:nvSpPr>
        <p:spPr>
          <a:xfrm>
            <a:off x="2529779" y="3511004"/>
            <a:ext cx="683273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Detection Acc.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2"/>
          <p:cNvSpPr/>
          <p:nvPr/>
        </p:nvSpPr>
        <p:spPr>
          <a:xfrm>
            <a:off x="3434953" y="3113782"/>
            <a:ext cx="9525" cy="476250"/>
          </a:xfrm>
          <a:prstGeom prst="rect">
            <a:avLst/>
          </a:prstGeom>
          <a:solidFill>
            <a:srgbClr val="2A4A6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2"/>
          <p:cNvSpPr/>
          <p:nvPr/>
        </p:nvSpPr>
        <p:spPr>
          <a:xfrm>
            <a:off x="3666905" y="3046214"/>
            <a:ext cx="629686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22"/>
          <p:cNvSpPr/>
          <p:nvPr/>
        </p:nvSpPr>
        <p:spPr>
          <a:xfrm>
            <a:off x="3666905" y="3511004"/>
            <a:ext cx="629686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Classification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2"/>
          <p:cNvSpPr/>
          <p:nvPr/>
        </p:nvSpPr>
        <p:spPr>
          <a:xfrm>
            <a:off x="4519017" y="3113782"/>
            <a:ext cx="9525" cy="476250"/>
          </a:xfrm>
          <a:prstGeom prst="rect">
            <a:avLst/>
          </a:prstGeom>
          <a:solidFill>
            <a:srgbClr val="2A4A6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22"/>
          <p:cNvSpPr/>
          <p:nvPr/>
        </p:nvSpPr>
        <p:spPr>
          <a:xfrm>
            <a:off x="4749745" y="3046214"/>
            <a:ext cx="754469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00D4A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2"/>
          <p:cNvSpPr/>
          <p:nvPr/>
        </p:nvSpPr>
        <p:spPr>
          <a:xfrm>
            <a:off x="4749745" y="3511004"/>
            <a:ext cx="754469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Vehicle Classes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2"/>
          <p:cNvSpPr/>
          <p:nvPr/>
        </p:nvSpPr>
        <p:spPr>
          <a:xfrm>
            <a:off x="5725418" y="3113782"/>
            <a:ext cx="9525" cy="476250"/>
          </a:xfrm>
          <a:prstGeom prst="rect">
            <a:avLst/>
          </a:prstGeom>
          <a:solidFill>
            <a:srgbClr val="2A4A6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2"/>
          <p:cNvSpPr/>
          <p:nvPr/>
        </p:nvSpPr>
        <p:spPr>
          <a:xfrm>
            <a:off x="5957105" y="3046214"/>
            <a:ext cx="656707" cy="4266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6B35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F6B35"/>
                </a:solidFill>
                <a:latin typeface="Arial"/>
                <a:ea typeface="Arial"/>
                <a:cs typeface="Arial"/>
                <a:sym typeface="Arial"/>
              </a:rPr>
              <a:t>Real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2"/>
          <p:cNvSpPr/>
          <p:nvPr/>
        </p:nvSpPr>
        <p:spPr>
          <a:xfrm>
            <a:off x="5957105" y="3511004"/>
            <a:ext cx="656707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Time Speed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2"/>
          <p:cNvSpPr/>
          <p:nvPr/>
        </p:nvSpPr>
        <p:spPr>
          <a:xfrm>
            <a:off x="2468898" y="4000500"/>
            <a:ext cx="4206204" cy="1732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975"/>
              <a:buFont typeface="Arial"/>
              <a:buNone/>
            </a:pPr>
            <a:r>
              <a:rPr lang="en-US" sz="97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Team Members</a:t>
            </a:r>
            <a:endParaRPr sz="97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22"/>
          <p:cNvSpPr/>
          <p:nvPr/>
        </p:nvSpPr>
        <p:spPr>
          <a:xfrm>
            <a:off x="2510135" y="4249936"/>
            <a:ext cx="960316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Ashwathi Ashok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2"/>
          <p:cNvSpPr/>
          <p:nvPr/>
        </p:nvSpPr>
        <p:spPr>
          <a:xfrm>
            <a:off x="3756422" y="4249936"/>
            <a:ext cx="1240092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Tharun Subramanya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2"/>
          <p:cNvSpPr/>
          <p:nvPr/>
        </p:nvSpPr>
        <p:spPr>
          <a:xfrm>
            <a:off x="5276999" y="4249936"/>
            <a:ext cx="1384003" cy="1866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0F4F8"/>
              </a:buClr>
              <a:buSzPts val="1050"/>
              <a:buFont typeface="Arial"/>
              <a:buNone/>
            </a:pPr>
            <a:r>
              <a:rPr lang="en-US" sz="1050">
                <a:solidFill>
                  <a:srgbClr val="F0F4F8"/>
                </a:solidFill>
                <a:latin typeface="Arial"/>
                <a:ea typeface="Arial"/>
                <a:cs typeface="Arial"/>
                <a:sym typeface="Arial"/>
              </a:rPr>
              <a:t>Vedhesh A S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2"/>
          <p:cNvSpPr/>
          <p:nvPr/>
        </p:nvSpPr>
        <p:spPr>
          <a:xfrm>
            <a:off x="219456" y="4768304"/>
            <a:ext cx="8705088" cy="1465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8FA8C8"/>
              </a:buClr>
              <a:buSzPts val="825"/>
              <a:buFont typeface="Arial"/>
              <a:buNone/>
            </a:pPr>
            <a:r>
              <a:rPr lang="en-US" sz="825">
                <a:solidFill>
                  <a:srgbClr val="8FA8C8"/>
                </a:solidFill>
                <a:latin typeface="Arial"/>
                <a:ea typeface="Arial"/>
                <a:cs typeface="Arial"/>
                <a:sym typeface="Arial"/>
              </a:rPr>
              <a:t>ECE-5831 Pattern Recognition and Neural Networks - December 2024 - Questions?</a:t>
            </a:r>
            <a:endParaRPr sz="825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