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embeddedFontLst>
    <p:embeddedFont>
      <p:font typeface="Arial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3486296" y="1537395"/>
            <a:ext cx="217111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ECE-5831 FINAL PROJECT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79049" y="1838750"/>
            <a:ext cx="738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Vehicle </a:t>
            </a:r>
            <a:r>
              <a:rPr b="1" lang="en-US" sz="30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Type</a:t>
            </a:r>
            <a:r>
              <a:rPr b="1" i="0" lang="en-US" sz="3000" u="none" cap="none" strike="noStrike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 and Speed</a:t>
            </a:r>
            <a:r>
              <a:rPr b="1" lang="en-US" sz="30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 Pattern Recognition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2707867" y="2945936"/>
            <a:ext cx="3803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Ashwathi Ashok | Tharun Subramanya | Vedhesh A. Saravanan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194794" y="3229291"/>
            <a:ext cx="8295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December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381000" y="77165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Outline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81000" y="1544654"/>
            <a:ext cx="4038600" cy="491400"/>
          </a:xfrm>
          <a:prstGeom prst="roundRect">
            <a:avLst>
              <a:gd fmla="val 155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4"/>
          <p:cNvCxnSpPr/>
          <p:nvPr/>
        </p:nvCxnSpPr>
        <p:spPr>
          <a:xfrm>
            <a:off x="400050" y="1544654"/>
            <a:ext cx="0" cy="491400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/>
          <p:nvPr/>
        </p:nvSpPr>
        <p:spPr>
          <a:xfrm>
            <a:off x="571500" y="1697054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1. Introduction and Problem Statement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381000" y="2188485"/>
            <a:ext cx="4038600" cy="491400"/>
          </a:xfrm>
          <a:prstGeom prst="roundRect">
            <a:avLst>
              <a:gd fmla="val 155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4"/>
          <p:cNvCxnSpPr/>
          <p:nvPr/>
        </p:nvCxnSpPr>
        <p:spPr>
          <a:xfrm>
            <a:off x="400050" y="2188485"/>
            <a:ext cx="0" cy="491400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4"/>
          <p:cNvSpPr/>
          <p:nvPr/>
        </p:nvSpPr>
        <p:spPr>
          <a:xfrm>
            <a:off x="571500" y="234088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2. Dataset and Preprocessing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81000" y="2832315"/>
            <a:ext cx="4038600" cy="491400"/>
          </a:xfrm>
          <a:prstGeom prst="roundRect">
            <a:avLst>
              <a:gd fmla="val 155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4"/>
          <p:cNvCxnSpPr/>
          <p:nvPr/>
        </p:nvCxnSpPr>
        <p:spPr>
          <a:xfrm>
            <a:off x="400050" y="2832315"/>
            <a:ext cx="0" cy="491400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4"/>
          <p:cNvSpPr/>
          <p:nvPr/>
        </p:nvSpPr>
        <p:spPr>
          <a:xfrm>
            <a:off x="571500" y="298471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3. Methodology and Architecture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724400" y="1544654"/>
            <a:ext cx="4038600" cy="491400"/>
          </a:xfrm>
          <a:prstGeom prst="roundRect">
            <a:avLst>
              <a:gd fmla="val 155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4743450" y="1544654"/>
            <a:ext cx="0" cy="491400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"/>
          <p:cNvSpPr/>
          <p:nvPr/>
        </p:nvSpPr>
        <p:spPr>
          <a:xfrm>
            <a:off x="4914900" y="1697054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4. Speed Estimation Algorithm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24400" y="2188485"/>
            <a:ext cx="4038600" cy="491400"/>
          </a:xfrm>
          <a:prstGeom prst="roundRect">
            <a:avLst>
              <a:gd fmla="val 155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4743450" y="2188485"/>
            <a:ext cx="0" cy="491400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4914900" y="234088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5. Results and Evaluation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24400" y="2832315"/>
            <a:ext cx="4038600" cy="491400"/>
          </a:xfrm>
          <a:prstGeom prst="roundRect">
            <a:avLst>
              <a:gd fmla="val 155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4743450" y="2832315"/>
            <a:ext cx="0" cy="491400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4914900" y="298471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6. Demo and Conclusions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48388" y="1069293"/>
            <a:ext cx="4892100" cy="998100"/>
          </a:xfrm>
          <a:prstGeom prst="roundRect">
            <a:avLst>
              <a:gd fmla="val 7634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19838" y="1240743"/>
            <a:ext cx="4640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19838" y="1495983"/>
            <a:ext cx="46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Develop an automated system to detect vehicles, classify their type, and estimate their speed from traffic video footage.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48388" y="2219883"/>
            <a:ext cx="4892100" cy="1654200"/>
          </a:xfrm>
          <a:prstGeom prst="roundRect">
            <a:avLst>
              <a:gd fmla="val 46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19838" y="2391333"/>
            <a:ext cx="4640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KEY OBJECTIVES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19838" y="2646573"/>
            <a:ext cx="45492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76200" lvl="0" marL="76200" marR="0" rtl="0" algn="l">
              <a:lnSpc>
                <a:spcPct val="155589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Binary classification: Vehicle vs Non-vehicle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Multi-class: Car, Bus, Truck, Motorcycle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Speed estimation in mph from pixel motion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Real-time tracking with unique IDs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68968" y="1366056"/>
            <a:ext cx="33267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68968" y="1626952"/>
            <a:ext cx="3261300" cy="401700"/>
          </a:xfrm>
          <a:prstGeom prst="roundRect">
            <a:avLst>
              <a:gd fmla="val 1422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583268" y="1741252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Traffic Management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68968" y="2143088"/>
            <a:ext cx="3261300" cy="401700"/>
          </a:xfrm>
          <a:prstGeom prst="roundRect">
            <a:avLst>
              <a:gd fmla="val 1422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583268" y="2257388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Law Enforcement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68968" y="2659223"/>
            <a:ext cx="3261300" cy="401700"/>
          </a:xfrm>
          <a:prstGeom prst="roundRect">
            <a:avLst>
              <a:gd fmla="val 1422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583268" y="2773523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Road Safety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68968" y="3175359"/>
            <a:ext cx="3261300" cy="401700"/>
          </a:xfrm>
          <a:prstGeom prst="roundRect">
            <a:avLst>
              <a:gd fmla="val 1422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583268" y="3289659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Urban Planning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03450" y="51205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47551" y="1714363"/>
            <a:ext cx="963000" cy="426600"/>
          </a:xfrm>
          <a:prstGeom prst="roundRect">
            <a:avLst>
              <a:gd fmla="val 17858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012800" y="1847713"/>
            <a:ext cx="6327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Video 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924918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229718" y="1695313"/>
            <a:ext cx="1270200" cy="464700"/>
          </a:xfrm>
          <a:prstGeom prst="roundRect">
            <a:avLst>
              <a:gd fmla="val 16395" name="adj"/>
            </a:avLst>
          </a:prstGeom>
          <a:solidFill>
            <a:srgbClr val="1E3A5F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2411325" y="1847713"/>
            <a:ext cx="906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MOG2 Detection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14266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919066" y="1695313"/>
            <a:ext cx="1289400" cy="464700"/>
          </a:xfrm>
          <a:prstGeom prst="roundRect">
            <a:avLst>
              <a:gd fmla="val 16395" name="adj"/>
            </a:avLst>
          </a:prstGeom>
          <a:solidFill>
            <a:srgbClr val="1E3A5F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100482" y="1847713"/>
            <a:ext cx="9267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Centroid Tracker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322813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627613" y="1695313"/>
            <a:ext cx="1175100" cy="464700"/>
          </a:xfrm>
          <a:prstGeom prst="roundRect">
            <a:avLst>
              <a:gd fmla="val 16395" name="adj"/>
            </a:avLst>
          </a:prstGeom>
          <a:solidFill>
            <a:srgbClr val="1E3A5F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810171" y="1847713"/>
            <a:ext cx="810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CNN Classifier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917060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221860" y="1714363"/>
            <a:ext cx="1074600" cy="426600"/>
          </a:xfrm>
          <a:prstGeom prst="roundRect">
            <a:avLst>
              <a:gd fmla="val 17858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385993" y="1847713"/>
            <a:ext cx="7464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Speed + Type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614760" y="2541103"/>
            <a:ext cx="1812600" cy="687600"/>
          </a:xfrm>
          <a:prstGeom prst="roundRect">
            <a:avLst>
              <a:gd fmla="val 1108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767160" y="2693503"/>
            <a:ext cx="15378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FRAMEWORKS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767160" y="2916298"/>
            <a:ext cx="1537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TensorFlow | Keras | OpenCV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17838" y="2541103"/>
            <a:ext cx="1971300" cy="687600"/>
          </a:xfrm>
          <a:prstGeom prst="roundRect">
            <a:avLst>
              <a:gd fmla="val 1108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770238" y="2693503"/>
            <a:ext cx="16998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TECHNIQUES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770238" y="2916298"/>
            <a:ext cx="1699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MOG2 | CNN | Centroid Tracking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779566" y="2541103"/>
            <a:ext cx="1749600" cy="687600"/>
          </a:xfrm>
          <a:prstGeom prst="roundRect">
            <a:avLst>
              <a:gd fmla="val 1108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931966" y="2693503"/>
            <a:ext cx="14736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931966" y="2916298"/>
            <a:ext cx="1473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Annotated Video | CSV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465775" y="31773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Datasets Used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65775" y="2178842"/>
            <a:ext cx="2667000" cy="2459100"/>
          </a:xfrm>
          <a:prstGeom prst="roundRect">
            <a:avLst>
              <a:gd fmla="val 3873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7"/>
          <p:cNvCxnSpPr/>
          <p:nvPr/>
        </p:nvCxnSpPr>
        <p:spPr>
          <a:xfrm>
            <a:off x="465775" y="2197892"/>
            <a:ext cx="2667000" cy="0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7"/>
          <p:cNvSpPr/>
          <p:nvPr/>
        </p:nvSpPr>
        <p:spPr>
          <a:xfrm>
            <a:off x="6372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Binary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372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Vehicle Detection Image Set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372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Total: 17,760 images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372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Vehicles: 8,792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372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Non-vehicles: 8,968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372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Split: 80/20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323275" y="2178842"/>
            <a:ext cx="2667000" cy="2459100"/>
          </a:xfrm>
          <a:prstGeom prst="roundRect">
            <a:avLst>
              <a:gd fmla="val 3873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7"/>
          <p:cNvCxnSpPr/>
          <p:nvPr/>
        </p:nvCxnSpPr>
        <p:spPr>
          <a:xfrm>
            <a:off x="3323275" y="2197892"/>
            <a:ext cx="2667000" cy="0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7"/>
          <p:cNvSpPr/>
          <p:nvPr/>
        </p:nvSpPr>
        <p:spPr>
          <a:xfrm>
            <a:off x="34947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Type Classification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4947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Vehicle Detection 8 Classes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4947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Total Patches: 19,700+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4947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Classes Used: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4947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Car, Bus, Truck, Motorcycle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4947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Format: YOLO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180775" y="2178842"/>
            <a:ext cx="2667000" cy="2459100"/>
          </a:xfrm>
          <a:prstGeom prst="roundRect">
            <a:avLst>
              <a:gd fmla="val 3873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>
            <a:off x="6180775" y="2197892"/>
            <a:ext cx="2667000" cy="0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7"/>
          <p:cNvSpPr/>
          <p:nvPr/>
        </p:nvSpPr>
        <p:spPr>
          <a:xfrm>
            <a:off x="63522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Test Videos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3522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Real Traffic Footage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3522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M6 Motorway: 40s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3522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Skybridge: 13s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3522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Resolution: 720p/1080p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3522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FPS: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381000" y="954825"/>
            <a:ext cx="58083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Kaggle: Vehicle Detection Image Set (binary: vehicles vs non-vehicles).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Kaggle: Vehicle Detection 8 Classes (VOC boxes; we used a 4-class subset in the notebook).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video clips for end-to-end demo (detection → tracking → speed).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373138" y="476275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CNN Architecture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98711" y="1296363"/>
            <a:ext cx="1043400" cy="324000"/>
          </a:xfrm>
          <a:prstGeom prst="roundRect">
            <a:avLst>
              <a:gd fmla="val 17647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432061" y="1391613"/>
            <a:ext cx="792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128x128x3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418197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684897" y="1312585"/>
            <a:ext cx="528900" cy="291300"/>
          </a:xfrm>
          <a:prstGeom prst="roundRect">
            <a:avLst>
              <a:gd fmla="val 19612" name="adj"/>
            </a:avLst>
          </a:prstGeom>
          <a:solidFill>
            <a:srgbClr val="1E3A5F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789672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16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290032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556732" y="1312585"/>
            <a:ext cx="528900" cy="291300"/>
          </a:xfrm>
          <a:prstGeom prst="roundRect">
            <a:avLst>
              <a:gd fmla="val 19612" name="adj"/>
            </a:avLst>
          </a:prstGeom>
          <a:solidFill>
            <a:srgbClr val="1E3A5F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661507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32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161868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428568" y="1312585"/>
            <a:ext cx="528900" cy="291300"/>
          </a:xfrm>
          <a:prstGeom prst="roundRect">
            <a:avLst>
              <a:gd fmla="val 19612" name="adj"/>
            </a:avLst>
          </a:prstGeom>
          <a:solidFill>
            <a:srgbClr val="1E3A5F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33343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64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033703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300403" y="1312585"/>
            <a:ext cx="576600" cy="291300"/>
          </a:xfrm>
          <a:prstGeom prst="roundRect">
            <a:avLst>
              <a:gd fmla="val 19612" name="adj"/>
            </a:avLst>
          </a:prstGeom>
          <a:solidFill>
            <a:srgbClr val="1E3A5F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05178" y="1398310"/>
            <a:ext cx="3744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128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953163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219863" y="1312585"/>
            <a:ext cx="624300" cy="291300"/>
          </a:xfrm>
          <a:prstGeom prst="roundRect">
            <a:avLst>
              <a:gd fmla="val 19612" name="adj"/>
            </a:avLst>
          </a:prstGeom>
          <a:solidFill>
            <a:srgbClr val="1E3A5F"/>
          </a:solidFill>
          <a:ln cap="flat" cmpd="sng" w="95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324638" y="1398310"/>
            <a:ext cx="423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Dense 256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920397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187097" y="1296363"/>
            <a:ext cx="658200" cy="324000"/>
          </a:xfrm>
          <a:prstGeom prst="roundRect">
            <a:avLst>
              <a:gd fmla="val 17647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320447" y="1391613"/>
            <a:ext cx="3993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81000" y="2135684"/>
            <a:ext cx="4076700" cy="2148334"/>
          </a:xfrm>
          <a:prstGeom prst="roundRect">
            <a:avLst>
              <a:gd fmla="val 4434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8"/>
          <p:cNvCxnSpPr/>
          <p:nvPr/>
        </p:nvCxnSpPr>
        <p:spPr>
          <a:xfrm>
            <a:off x="400050" y="2135684"/>
            <a:ext cx="0" cy="2148334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8"/>
          <p:cNvSpPr/>
          <p:nvPr/>
        </p:nvSpPr>
        <p:spPr>
          <a:xfrm>
            <a:off x="590550" y="2307134"/>
            <a:ext cx="376961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Binary Model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90550" y="2747070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Output: 1 neuron (Sigmoid)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90550" y="3084165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Loss: Binary Cross entropy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90550" y="3421261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Optimizer: Adam (1e-3)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90550" y="3872657"/>
            <a:ext cx="3769614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99.2% Accuracy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686300" y="2135684"/>
            <a:ext cx="4076700" cy="2148334"/>
          </a:xfrm>
          <a:prstGeom prst="roundRect">
            <a:avLst>
              <a:gd fmla="val 4434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4705350" y="2135684"/>
            <a:ext cx="0" cy="2148334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8"/>
          <p:cNvSpPr/>
          <p:nvPr/>
        </p:nvSpPr>
        <p:spPr>
          <a:xfrm>
            <a:off x="4895850" y="2307134"/>
            <a:ext cx="376961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Multi-Class Model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95850" y="2747070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Output: 4 neurons (Softmax)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95850" y="3084165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Loss: Categorical Cross entropy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895850" y="3421261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Classes: Bus, Car, Motorcycle, Truck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895850" y="3872657"/>
            <a:ext cx="3769614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94% Accuracy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579474" y="592809"/>
            <a:ext cx="81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Vehicle Type Classification (Multi-class)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579474" y="1868988"/>
            <a:ext cx="7038900" cy="14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vehicle type label (e.g., bus/car/truck/motorcycle).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trained a lightweight CNN on labeled vehicle crops (subset used in notebook).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run achieved validation accuracy ≈ 95.9% after 5 epochs.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79474" y="1339989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79474" y="357214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End-to-end overlay (type + speed + track ID)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579474" y="272534"/>
            <a:ext cx="81817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Vehicle Type Classification (Multi-class)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extracted_nb_imgs/cell58_out0_6afe0b24e4.png"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0" y="1473551"/>
            <a:ext cx="3571107" cy="204117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579474" y="1098369"/>
            <a:ext cx="4572000" cy="2236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Foreground extraction: BackgroundSubtractorMOG2 (Gaussian mixture model).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track IDs and keep per-track position history.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stability is critical before speed estimation.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579474" y="729037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579474" y="3329717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Example overlay (IDs + pixel-domain speed)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Vehicle Detection: MOG2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381000" y="1280485"/>
            <a:ext cx="4076700" cy="1260600"/>
          </a:xfrm>
          <a:prstGeom prst="roundRect">
            <a:avLst>
              <a:gd fmla="val 6044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33400" y="1432885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HOW MOG2 WORKS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33400" y="1688125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1. Models each pixel as mixture of Gaussians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33400" y="187282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2. Learns background over time (history=500)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33400" y="2057516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3. Identifies foreground (moving vehicles)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33400" y="2242212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4. Shadow detection removed (gray=127)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81000" y="2674558"/>
            <a:ext cx="4076700" cy="1440600"/>
          </a:xfrm>
          <a:prstGeom prst="roundRect">
            <a:avLst>
              <a:gd fmla="val 5290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33400" y="2826958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POST-PROCESSING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33400" y="3082198"/>
            <a:ext cx="37719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noAutofit/>
          </a:bodyPr>
          <a:lstStyle/>
          <a:p>
            <a:pPr indent="-76200" lvl="0" marL="76200" marR="0" rtl="0" algn="l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Median blur (5x5) for noise removal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Binary threshold at 200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Morphological open/dilate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76200" marR="0" rtl="0" algn="l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Contour detection (area greater than 900px)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686300" y="1482593"/>
            <a:ext cx="4076700" cy="1095000"/>
          </a:xfrm>
          <a:prstGeom prst="roundRect">
            <a:avLst>
              <a:gd fmla="val 6958" name="adj"/>
            </a:avLst>
          </a:prstGeom>
          <a:solidFill>
            <a:srgbClr val="1E3A5F"/>
          </a:solidFill>
          <a:ln cap="flat" cmpd="sng" w="9525">
            <a:solidFill>
              <a:srgbClr val="2A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848225" y="1644518"/>
            <a:ext cx="3828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Key Parameters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848225" y="1899759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 = 500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848225" y="2084454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varThreshold = 32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848225" y="2269150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detectShadows = True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686300" y="2711021"/>
            <a:ext cx="4076700" cy="706500"/>
          </a:xfrm>
          <a:prstGeom prst="roundRect">
            <a:avLst>
              <a:gd fmla="val 10783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838700" y="2863421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Detection Flow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838700" y="311866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 → ROI → FG Mask → Contours → BBoxes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686300" y="3551007"/>
            <a:ext cx="4076700" cy="362100"/>
          </a:xfrm>
          <a:prstGeom prst="roundRect">
            <a:avLst>
              <a:gd fmla="val 1578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800600" y="3665307"/>
            <a:ext cx="39252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Adaptive to lighting, handles multi-modal backgrounds, efficient for real-time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Centroid Tracking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381000" y="1536550"/>
            <a:ext cx="415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ALGORITHM STEPS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381000" y="1810840"/>
            <a:ext cx="4076700" cy="388500"/>
          </a:xfrm>
          <a:prstGeom prst="roundRect">
            <a:avLst>
              <a:gd fmla="val 1470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2"/>
          <p:cNvCxnSpPr/>
          <p:nvPr/>
        </p:nvCxnSpPr>
        <p:spPr>
          <a:xfrm>
            <a:off x="395288" y="1810840"/>
            <a:ext cx="0" cy="388500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2"/>
          <p:cNvSpPr/>
          <p:nvPr/>
        </p:nvSpPr>
        <p:spPr>
          <a:xfrm>
            <a:off x="523875" y="1925140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1. Compute centroids from bounding boxes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81000" y="2313730"/>
            <a:ext cx="4076700" cy="388500"/>
          </a:xfrm>
          <a:prstGeom prst="roundRect">
            <a:avLst>
              <a:gd fmla="val 1470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2"/>
          <p:cNvCxnSpPr/>
          <p:nvPr/>
        </p:nvCxnSpPr>
        <p:spPr>
          <a:xfrm>
            <a:off x="395288" y="2313730"/>
            <a:ext cx="0" cy="38850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2"/>
          <p:cNvSpPr/>
          <p:nvPr/>
        </p:nvSpPr>
        <p:spPr>
          <a:xfrm>
            <a:off x="523875" y="2428030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2. Match detections to existing tracks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381000" y="2816621"/>
            <a:ext cx="4076700" cy="388500"/>
          </a:xfrm>
          <a:prstGeom prst="roundRect">
            <a:avLst>
              <a:gd fmla="val 1470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2"/>
          <p:cNvCxnSpPr/>
          <p:nvPr/>
        </p:nvCxnSpPr>
        <p:spPr>
          <a:xfrm>
            <a:off x="395288" y="2816621"/>
            <a:ext cx="0" cy="388500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2"/>
          <p:cNvSpPr/>
          <p:nvPr/>
        </p:nvSpPr>
        <p:spPr>
          <a:xfrm>
            <a:off x="523875" y="2930921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3. Update existing or create new IDs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81000" y="3319511"/>
            <a:ext cx="4076700" cy="388500"/>
          </a:xfrm>
          <a:prstGeom prst="roundRect">
            <a:avLst>
              <a:gd fmla="val 1470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2"/>
          <p:cNvCxnSpPr/>
          <p:nvPr/>
        </p:nvCxnSpPr>
        <p:spPr>
          <a:xfrm>
            <a:off x="395288" y="3319511"/>
            <a:ext cx="0" cy="38850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2"/>
          <p:cNvSpPr/>
          <p:nvPr/>
        </p:nvSpPr>
        <p:spPr>
          <a:xfrm>
            <a:off x="523875" y="3433811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4. Remove tracks after max_lost frames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686300" y="1410939"/>
            <a:ext cx="4076700" cy="1226700"/>
          </a:xfrm>
          <a:prstGeom prst="roundRect">
            <a:avLst>
              <a:gd fmla="val 6211" name="adj"/>
            </a:avLst>
          </a:prstGeom>
          <a:solidFill>
            <a:srgbClr val="1E3A5F"/>
          </a:solidFill>
          <a:ln cap="flat" cmpd="sng" w="9525">
            <a:solidFill>
              <a:srgbClr val="2A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848225" y="1572864"/>
            <a:ext cx="3828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Track Data Structure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848225" y="182810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centroid: (cx, cy)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848225" y="199955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bbox: (x, y, w, h)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848225" y="217100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lost: frame count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848225" y="234245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history: position list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686300" y="2771079"/>
            <a:ext cx="4076700" cy="1062600"/>
          </a:xfrm>
          <a:prstGeom prst="roundRect">
            <a:avLst>
              <a:gd fmla="val 7171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838700" y="2923479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KEY PARAMETERS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838700" y="3165325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max_lost = 10 frames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838700" y="335002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dist_thresh = 60 pixels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838700" y="3534716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 = Unlimited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Speed Estimation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381000" y="1418332"/>
            <a:ext cx="4891980" cy="965746"/>
          </a:xfrm>
          <a:prstGeom prst="roundRect">
            <a:avLst>
              <a:gd fmla="val 7890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514350" y="1551682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STEP 1: PIXEL SPEED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514350" y="177447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dist_px = sqrt[(x2-x1)^2 + (y2-y1)^2]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14350" y="194592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time_s = window / fps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14350" y="211737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speed_pxps = dist_px / time_s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81000" y="2498378"/>
            <a:ext cx="4891980" cy="965746"/>
          </a:xfrm>
          <a:prstGeom prst="roundRect">
            <a:avLst>
              <a:gd fmla="val 7890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14350" y="2631728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STEP 2: CALIBRATION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514350" y="285452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lane_px = 100 pixels (measured)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14350" y="302597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lane_meters = 3.65 m (standard)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514350" y="319742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meters_per_pixel = 0.0365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381000" y="3578423"/>
            <a:ext cx="4891980" cy="794296"/>
          </a:xfrm>
          <a:prstGeom prst="roundRect">
            <a:avLst>
              <a:gd fmla="val 9593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14350" y="3711773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STEP 3: CONVERSION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14350" y="3934569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speed_mps = speed_pxps * meters_per_pixel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14350" y="4106019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speed_mph = speed_mps * 2.23694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501580" y="1901428"/>
            <a:ext cx="3261420" cy="1479798"/>
          </a:xfrm>
          <a:prstGeom prst="roundRect">
            <a:avLst>
              <a:gd fmla="val 6437" name="adj"/>
            </a:avLst>
          </a:prstGeom>
          <a:solidFill>
            <a:srgbClr val="1E3A5F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682707" y="2110978"/>
            <a:ext cx="289916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COMPLETE FORMULA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682707" y="2352824"/>
            <a:ext cx="289916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V_mph = d_px * k * c / 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682707" y="2634704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 = Speed (mph)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682707" y="2773710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 = Pixel displacement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5682707" y="2912715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k = meters/pixel scale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682707" y="3051721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 = 2.23694 conversion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5501580" y="3514576"/>
            <a:ext cx="3261420" cy="375196"/>
          </a:xfrm>
          <a:prstGeom prst="roundRect">
            <a:avLst>
              <a:gd fmla="val 20309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615880" y="3628876"/>
            <a:ext cx="309347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Moving average (k=7) smoothing applied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/>
        </p:nvSpPr>
        <p:spPr>
          <a:xfrm>
            <a:off x="206952" y="300234"/>
            <a:ext cx="535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Estimation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216375" y="1281106"/>
            <a:ext cx="5760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each track: compute centroid displacement over a short window → px/s.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 px → meters using scene scale (lane width ≈ 3.65 m).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 m/s → mph (× 2.23694).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216375" y="83685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Computation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216375" y="2571750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Scale example (two points define lane width in pixels)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extracted_nb_imgs/cell25_out0_2100e1a56b.png" id="273" name="Google Shape;2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552" y="2934063"/>
            <a:ext cx="3455582" cy="2047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extracted_nb_imgs/cell29_out0_0656d9184b.png" id="274" name="Google Shape;2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8375" y="2622870"/>
            <a:ext cx="4251959" cy="2356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/>
        </p:nvSpPr>
        <p:spPr>
          <a:xfrm>
            <a:off x="287079" y="320380"/>
            <a:ext cx="8038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Stabilizing Speed: Smoothing / Filtering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287079" y="1279664"/>
            <a:ext cx="5592726" cy="168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noise creates spikes in instantaneous speed.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applied a moving-average smoother (and explored Kalman-style filtering).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Smoother output is more stable for “speeding” decisions.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368692" y="910344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Why smoothing?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extracted_nb_imgs/cell22_out0_b6905f2ab0.png" id="283" name="Google Shape;2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045" y="2962176"/>
            <a:ext cx="4667693" cy="2158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extracted_nb_imgs/cell32_out0_e468d250f1.png" id="284" name="Google Shape;2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251" y="2408409"/>
            <a:ext cx="3337168" cy="261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14517c67.png" id="290" name="Google Shape;2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6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b="1" lang="en-US" sz="255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Training Results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304800" y="647700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Binary Classification Model Performance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166491" y="2688878"/>
            <a:ext cx="170871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Training &amp; Validation Curves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ed175928.png" id="294" name="Google Shape;29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2140" y="876598"/>
            <a:ext cx="2907060" cy="123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/>
          <p:nvPr/>
        </p:nvSpPr>
        <p:spPr>
          <a:xfrm>
            <a:off x="6097380" y="1067098"/>
            <a:ext cx="257658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VALIDATION 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097380" y="1284238"/>
            <a:ext cx="2576581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99.2%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932140" y="2228999"/>
            <a:ext cx="2907060" cy="1211461"/>
          </a:xfrm>
          <a:prstGeom prst="roundRect">
            <a:avLst>
              <a:gd fmla="val 786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6084540" y="2381399"/>
            <a:ext cx="26543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CLASSIFICATION 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084540" y="2655689"/>
            <a:ext cx="47955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464302" y="2655689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084540" y="2891879"/>
            <a:ext cx="32410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8464302" y="2891879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6084540" y="3128070"/>
            <a:ext cx="47955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8464302" y="3128070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932140" y="3554760"/>
            <a:ext cx="2907060" cy="1133177"/>
          </a:xfrm>
          <a:prstGeom prst="roundRect">
            <a:avLst>
              <a:gd fmla="val 8406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084540" y="3707160"/>
            <a:ext cx="265430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TRAINING DETAILS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6084540" y="3981450"/>
            <a:ext cx="58232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Epochs Run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046244" y="3981450"/>
            <a:ext cx="65336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7 (Early Stop)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084540" y="4185196"/>
            <a:ext cx="54664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Best Epoch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8628459" y="4185196"/>
            <a:ext cx="5950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084540" y="4388941"/>
            <a:ext cx="48714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Final Loss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424565" y="4388941"/>
            <a:ext cx="2674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0.024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Presenter: Member 1 (Ashwathi Ashok)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525" y="821722"/>
            <a:ext cx="5436781" cy="409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06008873.png" id="320" name="Google Shape;3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7"/>
          <p:cNvSpPr/>
          <p:nvPr/>
        </p:nvSpPr>
        <p:spPr>
          <a:xfrm>
            <a:off x="304800" y="266700"/>
            <a:ext cx="6342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b="1" lang="en-US" sz="255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Speed Estimation Results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18700" y="840869"/>
            <a:ext cx="8705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M6 Motorway Video Analysis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2096095" y="2688878"/>
            <a:ext cx="142878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Speed Over Time Chart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5516910" y="748010"/>
            <a:ext cx="3322290" cy="2087612"/>
          </a:xfrm>
          <a:prstGeom prst="roundRect">
            <a:avLst>
              <a:gd fmla="val 4563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5669310" y="900410"/>
            <a:ext cx="30778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SPEED STATISTICS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669310" y="1264146"/>
            <a:ext cx="80168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Average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991326" y="1193750"/>
            <a:ext cx="695474" cy="300930"/>
          </a:xfrm>
          <a:prstGeom prst="roundRect">
            <a:avLst>
              <a:gd fmla="val 12661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8105626" y="1250900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45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5669310" y="1660327"/>
            <a:ext cx="58976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Max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7991326" y="1589931"/>
            <a:ext cx="695474" cy="300930"/>
          </a:xfrm>
          <a:prstGeom prst="roundRect">
            <a:avLst>
              <a:gd fmla="val 12661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105626" y="1647081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68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5669310" y="2056507"/>
            <a:ext cx="55742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Min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7991326" y="1986111"/>
            <a:ext cx="695474" cy="300930"/>
          </a:xfrm>
          <a:prstGeom prst="roundRect">
            <a:avLst>
              <a:gd fmla="val 12661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8105626" y="2043261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22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5669310" y="2452688"/>
            <a:ext cx="69344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Std Deviation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7918103" y="2382292"/>
            <a:ext cx="768697" cy="300930"/>
          </a:xfrm>
          <a:prstGeom prst="roundRect">
            <a:avLst>
              <a:gd fmla="val 12661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8032403" y="2439442"/>
            <a:ext cx="55089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±12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516910" y="2949922"/>
            <a:ext cx="3322290" cy="1230511"/>
          </a:xfrm>
          <a:prstGeom prst="roundRect">
            <a:avLst>
              <a:gd fmla="val 7741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5669310" y="3102322"/>
            <a:ext cx="30778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TRACKING SUMMARY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669310" y="3395663"/>
            <a:ext cx="88137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Vehicles Tracked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8492877" y="3395663"/>
            <a:ext cx="19780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50+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669310" y="3631853"/>
            <a:ext cx="97838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Frames Processed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8400752" y="3631853"/>
            <a:ext cx="29176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1,200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5669310" y="3868043"/>
            <a:ext cx="76919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Video Duration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8270379" y="3868043"/>
            <a:ext cx="42475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~40 sec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5516910" y="4294733"/>
            <a:ext cx="3322290" cy="521791"/>
          </a:xfrm>
          <a:prstGeom prst="roundRect">
            <a:avLst>
              <a:gd fmla="val 14604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5631210" y="4409033"/>
            <a:ext cx="3155564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 CSV file with frame-by-frame speed data for each tracked vehicle ID.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Presenter: Member 3 (Vedhesh A. Saravanan)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688" y="1060407"/>
            <a:ext cx="4983600" cy="37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c748259.png" id="355" name="Google Shape;3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8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b="1" lang="en-US" sz="255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Annotated Output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314516" y="881903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Real-Time Vehicle Detection, Classification &amp; Speed Display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304800" y="1087636"/>
            <a:ext cx="8534400" cy="2459682"/>
          </a:xfrm>
          <a:prstGeom prst="roundRect">
            <a:avLst>
              <a:gd fmla="val 4647" name="adj"/>
            </a:avLst>
          </a:prstGeom>
          <a:solidFill>
            <a:srgbClr val="142238"/>
          </a:solidFill>
          <a:ln cap="flat" cmpd="sng" w="19050">
            <a:solidFill>
              <a:srgbClr val="2A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06d8b241.png" id="359" name="Google Shape;3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1106686"/>
            <a:ext cx="8496300" cy="242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8"/>
          <p:cNvSpPr/>
          <p:nvPr/>
        </p:nvSpPr>
        <p:spPr>
          <a:xfrm>
            <a:off x="304800" y="3699718"/>
            <a:ext cx="2019300" cy="777032"/>
          </a:xfrm>
          <a:prstGeom prst="roundRect">
            <a:avLst>
              <a:gd fmla="val 980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8"/>
          <p:cNvCxnSpPr/>
          <p:nvPr/>
        </p:nvCxnSpPr>
        <p:spPr>
          <a:xfrm>
            <a:off x="319088" y="3699718"/>
            <a:ext cx="0" cy="777032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8"/>
          <p:cNvSpPr/>
          <p:nvPr/>
        </p:nvSpPr>
        <p:spPr>
          <a:xfrm>
            <a:off x="4667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📦 Bounding Boxes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667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Color-coded by vehicle type with unique track IDs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2476500" y="3699718"/>
            <a:ext cx="2019300" cy="777032"/>
          </a:xfrm>
          <a:prstGeom prst="roundRect">
            <a:avLst>
              <a:gd fmla="val 980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8"/>
          <p:cNvCxnSpPr/>
          <p:nvPr/>
        </p:nvCxnSpPr>
        <p:spPr>
          <a:xfrm>
            <a:off x="2490788" y="3699718"/>
            <a:ext cx="0" cy="777032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18"/>
          <p:cNvSpPr/>
          <p:nvPr/>
        </p:nvSpPr>
        <p:spPr>
          <a:xfrm>
            <a:off x="26384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🏷️ Labels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26384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 type + real-time speed in mph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648200" y="3699718"/>
            <a:ext cx="2019300" cy="777032"/>
          </a:xfrm>
          <a:prstGeom prst="roundRect">
            <a:avLst>
              <a:gd fmla="val 980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18"/>
          <p:cNvCxnSpPr/>
          <p:nvPr/>
        </p:nvCxnSpPr>
        <p:spPr>
          <a:xfrm>
            <a:off x="4662488" y="3699718"/>
            <a:ext cx="0" cy="777032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18"/>
          <p:cNvSpPr/>
          <p:nvPr/>
        </p:nvSpPr>
        <p:spPr>
          <a:xfrm>
            <a:off x="48101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📊 CSV Export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8101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Frame-by-frame tracking data for analysis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6819900" y="3772942"/>
            <a:ext cx="2019300" cy="630436"/>
          </a:xfrm>
          <a:prstGeom prst="roundRect">
            <a:avLst>
              <a:gd fmla="val 12087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8"/>
          <p:cNvCxnSpPr/>
          <p:nvPr/>
        </p:nvCxnSpPr>
        <p:spPr>
          <a:xfrm>
            <a:off x="6834188" y="3772942"/>
            <a:ext cx="0" cy="630436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8"/>
          <p:cNvSpPr/>
          <p:nvPr/>
        </p:nvSpPr>
        <p:spPr>
          <a:xfrm>
            <a:off x="6981825" y="3906292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🎬 Video Output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6981825" y="4123432"/>
            <a:ext cx="175850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MP4 with all annotations overlaid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Live demo video will be played during presentation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extracted_nb_imgs/cell30_out0_0123e02b6d.png" id="377" name="Google Shape;3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0990" y="1130314"/>
            <a:ext cx="4709160" cy="222649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8"/>
          <p:cNvSpPr txBox="1"/>
          <p:nvPr/>
        </p:nvSpPr>
        <p:spPr>
          <a:xfrm>
            <a:off x="202634" y="1289164"/>
            <a:ext cx="4045194" cy="2021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classifier (vehicle vs non-vehicle): ≈ 99.6% test accuracy.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 classifier (bus/car/motorcycle/truck subset): ≈ 95.9% validation accuracy.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estimation produces plausible mph trajectories; needs GT benchmark for MAE.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b770053e.png" id="384" name="Google Shape;3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9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b="1" lang="en-US" sz="255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Key Achievements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2d906a1.png" id="386" name="Google Shape;3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105049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9"/>
          <p:cNvSpPr/>
          <p:nvPr/>
        </p:nvSpPr>
        <p:spPr>
          <a:xfrm>
            <a:off x="485775" y="1286024"/>
            <a:ext cx="457200" cy="457200"/>
          </a:xfrm>
          <a:prstGeom prst="roundRect">
            <a:avLst>
              <a:gd fmla="val 20833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61392" y="1381274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1076325" y="1286024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99.2% Detection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1076325" y="1556445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Binary CNN classifier achieves near-perfect vehicle vs non-vehicle detection on validation set.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afa197ae.png" id="391" name="Google Shape;3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2190750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/>
          <p:nvPr/>
        </p:nvSpPr>
        <p:spPr>
          <a:xfrm>
            <a:off x="485775" y="2371725"/>
            <a:ext cx="457200" cy="457200"/>
          </a:xfrm>
          <a:prstGeom prst="roundRect">
            <a:avLst>
              <a:gd fmla="val 20833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661392" y="24669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1076325" y="2371725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4-Class Type Classification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1076325" y="2642146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Successfully classifies vehicles into Car, Bus, Truck, and Motorcycle categories with 94% accuracy.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62a5189b.png" id="396" name="Google Shape;3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0" y="3276451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9"/>
          <p:cNvSpPr/>
          <p:nvPr/>
        </p:nvSpPr>
        <p:spPr>
          <a:xfrm>
            <a:off x="485775" y="3457426"/>
            <a:ext cx="457200" cy="457200"/>
          </a:xfrm>
          <a:prstGeom prst="roundRect">
            <a:avLst>
              <a:gd fmla="val 20833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661392" y="3552676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1076325" y="3457426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Real-Time Speed Estimation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1076325" y="3727847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Converts pixel motion to mph using lane-width calibration with smoothing for stability.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065bc843.png" id="401" name="Google Shape;40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7250" y="1105049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9"/>
          <p:cNvSpPr/>
          <p:nvPr/>
        </p:nvSpPr>
        <p:spPr>
          <a:xfrm>
            <a:off x="4848225" y="1286024"/>
            <a:ext cx="457200" cy="457200"/>
          </a:xfrm>
          <a:prstGeom prst="roundRect">
            <a:avLst>
              <a:gd fmla="val 20833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5023842" y="1381274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5438775" y="1286024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Robust Multi-Object 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5438775" y="1556445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Centroid tracker maintains unique IDs across frames, handles occlusions gracefully.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0a1552b1.png" id="406" name="Google Shape;40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7250" y="2190750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9"/>
          <p:cNvSpPr/>
          <p:nvPr/>
        </p:nvSpPr>
        <p:spPr>
          <a:xfrm>
            <a:off x="4848225" y="2371725"/>
            <a:ext cx="457200" cy="457200"/>
          </a:xfrm>
          <a:prstGeom prst="roundRect">
            <a:avLst>
              <a:gd fmla="val 20833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5023842" y="24669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5438775" y="2371725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End-to-End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5438775" y="2642146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Complete system from raw video input to annotated output with CSV data export.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75303636.png" id="411" name="Google Shape;41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7250" y="3276451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9"/>
          <p:cNvSpPr/>
          <p:nvPr/>
        </p:nvSpPr>
        <p:spPr>
          <a:xfrm>
            <a:off x="4848225" y="3457426"/>
            <a:ext cx="457200" cy="457200"/>
          </a:xfrm>
          <a:prstGeom prst="roundRect">
            <a:avLst>
              <a:gd fmla="val 20833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5023842" y="3552676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5438775" y="3457426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Multiple Video 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5438775" y="3727847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Tested on M6 Motorway and Skybridge videos demonstrating generalization.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All team members contributed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1a9cf65b.png" id="422" name="Google Shape;4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0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b="1" lang="en-US" sz="255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Challenges &amp; Solutions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304800" y="783431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20"/>
          <p:cNvCxnSpPr/>
          <p:nvPr/>
        </p:nvCxnSpPr>
        <p:spPr>
          <a:xfrm>
            <a:off x="323850" y="783431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20"/>
          <p:cNvSpPr/>
          <p:nvPr/>
        </p:nvSpPr>
        <p:spPr>
          <a:xfrm>
            <a:off x="476250" y="916781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476250" y="1133921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Speed Estimation Noise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476250" y="1345257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Frame-to-frame centroid jitter caused erratic speed readings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4648200" y="783431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20"/>
          <p:cNvCxnSpPr/>
          <p:nvPr/>
        </p:nvCxnSpPr>
        <p:spPr>
          <a:xfrm>
            <a:off x="4667250" y="783431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20"/>
          <p:cNvSpPr/>
          <p:nvPr/>
        </p:nvSpPr>
        <p:spPr>
          <a:xfrm>
            <a:off x="4819650" y="916781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4819650" y="1133921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Moving Average Filter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4819650" y="1345257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Applied k=7 window smoothing and 5-frame displacement window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304800" y="1758553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20"/>
          <p:cNvCxnSpPr/>
          <p:nvPr/>
        </p:nvCxnSpPr>
        <p:spPr>
          <a:xfrm>
            <a:off x="323850" y="1758553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20"/>
          <p:cNvSpPr/>
          <p:nvPr/>
        </p:nvSpPr>
        <p:spPr>
          <a:xfrm>
            <a:off x="476250" y="1891903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476250" y="2109043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Shadow Detection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476250" y="2320379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MOG2 detected shadows as foreground objects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4648200" y="1758553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20"/>
          <p:cNvCxnSpPr/>
          <p:nvPr/>
        </p:nvCxnSpPr>
        <p:spPr>
          <a:xfrm>
            <a:off x="4667250" y="1758553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20"/>
          <p:cNvSpPr/>
          <p:nvPr/>
        </p:nvSpPr>
        <p:spPr>
          <a:xfrm>
            <a:off x="4819650" y="1891903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4819650" y="2109043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Shadow Removal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4819650" y="2320379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Set shadow pixels (gray=127) to 0 before thresholding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304800" y="2733675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20"/>
          <p:cNvCxnSpPr/>
          <p:nvPr/>
        </p:nvCxnSpPr>
        <p:spPr>
          <a:xfrm>
            <a:off x="323850" y="2733675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20"/>
          <p:cNvSpPr/>
          <p:nvPr/>
        </p:nvSpPr>
        <p:spPr>
          <a:xfrm>
            <a:off x="476250" y="2867025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476250" y="3084165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Flickering Type Labels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476250" y="3295501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Classification changed frame-to-frame for same vehicle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4648200" y="2733675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0"/>
          <p:cNvCxnSpPr/>
          <p:nvPr/>
        </p:nvCxnSpPr>
        <p:spPr>
          <a:xfrm>
            <a:off x="4667250" y="2733675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20"/>
          <p:cNvSpPr/>
          <p:nvPr/>
        </p:nvSpPr>
        <p:spPr>
          <a:xfrm>
            <a:off x="4819650" y="2867025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4819650" y="3084165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Majority Voting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4819650" y="3295501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Track votes per ID, display most common classification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304800" y="3708797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0"/>
          <p:cNvCxnSpPr/>
          <p:nvPr/>
        </p:nvCxnSpPr>
        <p:spPr>
          <a:xfrm>
            <a:off x="323850" y="3708797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0"/>
          <p:cNvSpPr/>
          <p:nvPr/>
        </p:nvSpPr>
        <p:spPr>
          <a:xfrm>
            <a:off x="476250" y="3842147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76250" y="4059287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Camera Calibration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476250" y="4270623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Unknown pixel-to-meter conversion factor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4648200" y="3708797"/>
            <a:ext cx="4191000" cy="841772"/>
          </a:xfrm>
          <a:prstGeom prst="roundRect">
            <a:avLst>
              <a:gd fmla="val 9052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20"/>
          <p:cNvCxnSpPr/>
          <p:nvPr/>
        </p:nvCxnSpPr>
        <p:spPr>
          <a:xfrm>
            <a:off x="4667250" y="3708797"/>
            <a:ext cx="0" cy="841772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20"/>
          <p:cNvSpPr/>
          <p:nvPr/>
        </p:nvSpPr>
        <p:spPr>
          <a:xfrm>
            <a:off x="4819650" y="3842147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819650" y="4059287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Lane Width Reference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819650" y="4270623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Measured lane in pixels, used standard 3.65m width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All team members contributed to problem-solving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2cc8f7f4.png" id="470" name="Google Shape;4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1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b="1" lang="en-US" sz="255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Future Work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304800" y="647700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Potential Improvements and Extensions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304800" y="1508968"/>
            <a:ext cx="4171950" cy="870347"/>
          </a:xfrm>
          <a:prstGeom prst="roundRect">
            <a:avLst>
              <a:gd fmla="val 10944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1"/>
          <p:cNvCxnSpPr/>
          <p:nvPr/>
        </p:nvCxnSpPr>
        <p:spPr>
          <a:xfrm>
            <a:off x="304800" y="1523256"/>
            <a:ext cx="4171950" cy="0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21"/>
          <p:cNvSpPr/>
          <p:nvPr/>
        </p:nvSpPr>
        <p:spPr>
          <a:xfrm>
            <a:off x="457200" y="1689943"/>
            <a:ext cx="266700" cy="266700"/>
          </a:xfrm>
          <a:prstGeom prst="roundRect">
            <a:avLst>
              <a:gd fmla="val 21429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537567" y="1689943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838200" y="1689943"/>
            <a:ext cx="355587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YOLO-based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838200" y="1933724"/>
            <a:ext cx="3555873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Replace MOG2 with </a:t>
            </a:r>
            <a:r>
              <a:rPr lang="en-US" sz="825">
                <a:solidFill>
                  <a:srgbClr val="8FA8C8"/>
                </a:solidFill>
              </a:rPr>
              <a:t>YOLO v8</a:t>
            </a: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 for more robust detection in varying conditions.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304800" y="2493615"/>
            <a:ext cx="4171950" cy="723751"/>
          </a:xfrm>
          <a:prstGeom prst="roundRect">
            <a:avLst>
              <a:gd fmla="val 13161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21"/>
          <p:cNvCxnSpPr/>
          <p:nvPr/>
        </p:nvCxnSpPr>
        <p:spPr>
          <a:xfrm>
            <a:off x="304800" y="2507903"/>
            <a:ext cx="4171950" cy="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21"/>
          <p:cNvSpPr/>
          <p:nvPr/>
        </p:nvSpPr>
        <p:spPr>
          <a:xfrm>
            <a:off x="457200" y="2674590"/>
            <a:ext cx="266700" cy="266700"/>
          </a:xfrm>
          <a:prstGeom prst="roundRect">
            <a:avLst>
              <a:gd fmla="val 21429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537567" y="2674590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838200" y="2674590"/>
            <a:ext cx="351063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Homography Calibration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838200" y="2918371"/>
            <a:ext cx="351063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Implement camera calibration with homography matrix for accurate speed.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304800" y="3331666"/>
            <a:ext cx="4171950" cy="723751"/>
          </a:xfrm>
          <a:prstGeom prst="roundRect">
            <a:avLst>
              <a:gd fmla="val 13161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21"/>
          <p:cNvCxnSpPr/>
          <p:nvPr/>
        </p:nvCxnSpPr>
        <p:spPr>
          <a:xfrm>
            <a:off x="304800" y="3345954"/>
            <a:ext cx="4171950" cy="0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21"/>
          <p:cNvSpPr/>
          <p:nvPr/>
        </p:nvSpPr>
        <p:spPr>
          <a:xfrm>
            <a:off x="457200" y="3512641"/>
            <a:ext cx="266700" cy="266700"/>
          </a:xfrm>
          <a:prstGeom prst="roundRect">
            <a:avLst>
              <a:gd fmla="val 21429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537567" y="3512641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838200" y="3512641"/>
            <a:ext cx="345780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DeepSORT Tracking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838200" y="3756422"/>
            <a:ext cx="345780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Use deep appearance features to handle occlusions and re-identification.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4667250" y="1582192"/>
            <a:ext cx="4171950" cy="723751"/>
          </a:xfrm>
          <a:prstGeom prst="roundRect">
            <a:avLst>
              <a:gd fmla="val 13161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21"/>
          <p:cNvCxnSpPr/>
          <p:nvPr/>
        </p:nvCxnSpPr>
        <p:spPr>
          <a:xfrm>
            <a:off x="4667250" y="1596479"/>
            <a:ext cx="4171950" cy="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21"/>
          <p:cNvSpPr/>
          <p:nvPr/>
        </p:nvSpPr>
        <p:spPr>
          <a:xfrm>
            <a:off x="4819650" y="1763167"/>
            <a:ext cx="266700" cy="266700"/>
          </a:xfrm>
          <a:prstGeom prst="roundRect">
            <a:avLst>
              <a:gd fmla="val 21429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4900017" y="1763167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5200650" y="1763167"/>
            <a:ext cx="345143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Real-Time Optimization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200650" y="2006947"/>
            <a:ext cx="345143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GPU acceleration with TensorRT for edge deployment on NVIDIA Jetson.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4667250" y="2420243"/>
            <a:ext cx="4171950" cy="723751"/>
          </a:xfrm>
          <a:prstGeom prst="roundRect">
            <a:avLst>
              <a:gd fmla="val 13161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21"/>
          <p:cNvCxnSpPr/>
          <p:nvPr/>
        </p:nvCxnSpPr>
        <p:spPr>
          <a:xfrm>
            <a:off x="4667250" y="2434530"/>
            <a:ext cx="4171950" cy="0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21"/>
          <p:cNvSpPr/>
          <p:nvPr/>
        </p:nvSpPr>
        <p:spPr>
          <a:xfrm>
            <a:off x="4819650" y="2601218"/>
            <a:ext cx="266700" cy="266700"/>
          </a:xfrm>
          <a:prstGeom prst="roundRect">
            <a:avLst>
              <a:gd fmla="val 21429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4900017" y="2601218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5200650" y="2601218"/>
            <a:ext cx="305795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Traffic Analytics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200650" y="2844998"/>
            <a:ext cx="305795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Add vehicle counting, lane occupancy, and congestion detection.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4667250" y="3258294"/>
            <a:ext cx="4171950" cy="723751"/>
          </a:xfrm>
          <a:prstGeom prst="roundRect">
            <a:avLst>
              <a:gd fmla="val 13161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21"/>
          <p:cNvCxnSpPr/>
          <p:nvPr/>
        </p:nvCxnSpPr>
        <p:spPr>
          <a:xfrm>
            <a:off x="4667250" y="3272582"/>
            <a:ext cx="4171950" cy="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1"/>
          <p:cNvSpPr/>
          <p:nvPr/>
        </p:nvSpPr>
        <p:spPr>
          <a:xfrm>
            <a:off x="4819650" y="3439269"/>
            <a:ext cx="266700" cy="266700"/>
          </a:xfrm>
          <a:prstGeom prst="roundRect">
            <a:avLst>
              <a:gd fmla="val 21429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4900017" y="3439269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5200650" y="3439269"/>
            <a:ext cx="258417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Night Vision Support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5200650" y="3683050"/>
            <a:ext cx="25841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Train on infrared footage for 24/7 monitoring capability.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All team members contributed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"/>
          <p:cNvSpPr/>
          <p:nvPr/>
        </p:nvSpPr>
        <p:spPr>
          <a:xfrm>
            <a:off x="0" y="0"/>
            <a:ext cx="1143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8001000" y="5067300"/>
            <a:ext cx="1143000" cy="76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9067800" y="4000500"/>
            <a:ext cx="76200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3479994" y="394559"/>
            <a:ext cx="21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150"/>
              <a:buFont typeface="Arial Black"/>
              <a:buNone/>
            </a:pPr>
            <a:r>
              <a:rPr b="1" lang="en-US" sz="3150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Thank You!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1238250" y="1526084"/>
            <a:ext cx="6667500" cy="1253430"/>
          </a:xfrm>
          <a:prstGeom prst="roundRect">
            <a:avLst>
              <a:gd fmla="val 9119" name="adj"/>
            </a:avLst>
          </a:prstGeom>
          <a:solidFill>
            <a:srgbClr val="14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1482471" y="1754684"/>
            <a:ext cx="617905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PROJECT SUMMARY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1482471" y="2093714"/>
            <a:ext cx="61790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We developed an end-to-end system for </a:t>
            </a:r>
            <a:r>
              <a:rPr b="1" lang="en-US" sz="11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vehicle detection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1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type classification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11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speed estimation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 using deep learning and computer vision techniques.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2529779" y="3046214"/>
            <a:ext cx="683273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2529779" y="3511004"/>
            <a:ext cx="68327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Detection Acc.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3434953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3666905" y="3046214"/>
            <a:ext cx="629686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3666905" y="3511004"/>
            <a:ext cx="62968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4519017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4749745" y="3046214"/>
            <a:ext cx="75446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4749745" y="3511004"/>
            <a:ext cx="75446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 Classes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725418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5957105" y="3046214"/>
            <a:ext cx="65670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5957105" y="3511004"/>
            <a:ext cx="65670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Time Speed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2468898" y="4000500"/>
            <a:ext cx="420620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2510135" y="4249936"/>
            <a:ext cx="9603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Ashwathi Ashok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3756422" y="4249936"/>
            <a:ext cx="124009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Tharun Subramanya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5276999" y="4249936"/>
            <a:ext cx="138400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Vedhesh A 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219456" y="4768304"/>
            <a:ext cx="870508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ECE-5831 Pattern Recognition and Neural Networks - December 2024 - Questions?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